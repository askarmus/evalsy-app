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Open Sans" panose="020B0606030504020204" pitchFamily="34" charset="0"/>
      <p:regular r:id="rId11"/>
    </p:embeddedFont>
    <p:embeddedFont>
      <p:font typeface="Open Sans Bold" panose="020B0604020202020204" charset="0"/>
      <p:regular r:id="rId12"/>
    </p:embeddedFont>
    <p:embeddedFont>
      <p:font typeface="Open Sans Bold Italics" panose="020B0604020202020204" charset="0"/>
      <p:regular r:id="rId13"/>
    </p:embeddedFont>
    <p:embeddedFont>
      <p:font typeface="Open Sauce" panose="020B0604020202020204" charset="0"/>
      <p:regular r:id="rId14"/>
    </p:embeddedFont>
    <p:embeddedFont>
      <p:font typeface="Open Sauce Bold" panose="020B0604020202020204" charset="0"/>
      <p:regular r:id="rId15"/>
    </p:embeddedFont>
    <p:embeddedFont>
      <p:font typeface="Open Sauce Bold Italics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png"/><Relationship Id="rId3" Type="http://schemas.openxmlformats.org/officeDocument/2006/relationships/image" Target="../media/image5.sv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svg"/><Relationship Id="rId10" Type="http://schemas.openxmlformats.org/officeDocument/2006/relationships/image" Target="../media/image21.sv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.sv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30.png"/><Relationship Id="rId5" Type="http://schemas.openxmlformats.org/officeDocument/2006/relationships/image" Target="../media/image5.svg"/><Relationship Id="rId10" Type="http://schemas.openxmlformats.org/officeDocument/2006/relationships/image" Target="../media/image29.svg"/><Relationship Id="rId4" Type="http://schemas.openxmlformats.org/officeDocument/2006/relationships/image" Target="../media/image4.png"/><Relationship Id="rId9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13" Type="http://schemas.openxmlformats.org/officeDocument/2006/relationships/image" Target="../media/image20.png"/><Relationship Id="rId3" Type="http://schemas.openxmlformats.org/officeDocument/2006/relationships/image" Target="../media/image5.svg"/><Relationship Id="rId7" Type="http://schemas.openxmlformats.org/officeDocument/2006/relationships/image" Target="../media/image33.png"/><Relationship Id="rId12" Type="http://schemas.openxmlformats.org/officeDocument/2006/relationships/image" Target="../media/image38.svg"/><Relationship Id="rId2" Type="http://schemas.openxmlformats.org/officeDocument/2006/relationships/image" Target="../media/image4.png"/><Relationship Id="rId16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37.png"/><Relationship Id="rId5" Type="http://schemas.openxmlformats.org/officeDocument/2006/relationships/image" Target="../media/image32.svg"/><Relationship Id="rId15" Type="http://schemas.openxmlformats.org/officeDocument/2006/relationships/image" Target="../media/image22.png"/><Relationship Id="rId10" Type="http://schemas.openxmlformats.org/officeDocument/2006/relationships/image" Target="../media/image36.svg"/><Relationship Id="rId4" Type="http://schemas.openxmlformats.org/officeDocument/2006/relationships/image" Target="../media/image31.png"/><Relationship Id="rId9" Type="http://schemas.openxmlformats.org/officeDocument/2006/relationships/image" Target="../media/image35.png"/><Relationship Id="rId14" Type="http://schemas.openxmlformats.org/officeDocument/2006/relationships/image" Target="../media/image2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image" Target="../media/image5.svg"/><Relationship Id="rId7" Type="http://schemas.openxmlformats.org/officeDocument/2006/relationships/image" Target="../media/image3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5.svg"/><Relationship Id="rId7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4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2.sv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48.png"/><Relationship Id="rId5" Type="http://schemas.openxmlformats.org/officeDocument/2006/relationships/image" Target="../media/image5.svg"/><Relationship Id="rId10" Type="http://schemas.openxmlformats.org/officeDocument/2006/relationships/image" Target="../media/image47.png"/><Relationship Id="rId4" Type="http://schemas.openxmlformats.org/officeDocument/2006/relationships/image" Target="../media/image4.png"/><Relationship Id="rId9" Type="http://schemas.openxmlformats.org/officeDocument/2006/relationships/image" Target="../media/image46.svg"/><Relationship Id="rId14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02280" y="8982572"/>
            <a:ext cx="4215456" cy="3856457"/>
            <a:chOff x="0" y="0"/>
            <a:chExt cx="1110244" cy="10156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10244" cy="1015692"/>
            </a:xfrm>
            <a:custGeom>
              <a:avLst/>
              <a:gdLst/>
              <a:ahLst/>
              <a:cxnLst/>
              <a:rect l="l" t="t" r="r" b="b"/>
              <a:pathLst>
                <a:path w="1110244" h="1015692">
                  <a:moveTo>
                    <a:pt x="55097" y="0"/>
                  </a:moveTo>
                  <a:lnTo>
                    <a:pt x="1055147" y="0"/>
                  </a:lnTo>
                  <a:cubicBezTo>
                    <a:pt x="1085576" y="0"/>
                    <a:pt x="1110244" y="24668"/>
                    <a:pt x="1110244" y="55097"/>
                  </a:cubicBezTo>
                  <a:lnTo>
                    <a:pt x="1110244" y="960596"/>
                  </a:lnTo>
                  <a:cubicBezTo>
                    <a:pt x="1110244" y="991025"/>
                    <a:pt x="1085576" y="1015692"/>
                    <a:pt x="1055147" y="1015692"/>
                  </a:cubicBezTo>
                  <a:lnTo>
                    <a:pt x="55097" y="1015692"/>
                  </a:lnTo>
                  <a:cubicBezTo>
                    <a:pt x="40484" y="1015692"/>
                    <a:pt x="26470" y="1009888"/>
                    <a:pt x="16137" y="999555"/>
                  </a:cubicBezTo>
                  <a:cubicBezTo>
                    <a:pt x="5805" y="989222"/>
                    <a:pt x="0" y="975208"/>
                    <a:pt x="0" y="960596"/>
                  </a:cubicBezTo>
                  <a:lnTo>
                    <a:pt x="0" y="55097"/>
                  </a:lnTo>
                  <a:cubicBezTo>
                    <a:pt x="0" y="24668"/>
                    <a:pt x="24668" y="0"/>
                    <a:pt x="5509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10244" cy="1063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86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421032" y="-731591"/>
            <a:ext cx="5171251" cy="5171251"/>
          </a:xfrm>
          <a:custGeom>
            <a:avLst/>
            <a:gdLst/>
            <a:ahLst/>
            <a:cxnLst/>
            <a:rect l="l" t="t" r="r" b="b"/>
            <a:pathLst>
              <a:path w="5171251" h="5171251">
                <a:moveTo>
                  <a:pt x="0" y="0"/>
                </a:moveTo>
                <a:lnTo>
                  <a:pt x="5171251" y="0"/>
                </a:lnTo>
                <a:lnTo>
                  <a:pt x="5171251" y="5171251"/>
                </a:lnTo>
                <a:lnTo>
                  <a:pt x="0" y="5171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2859344" y="3308243"/>
            <a:ext cx="2665018" cy="2531602"/>
            <a:chOff x="0" y="0"/>
            <a:chExt cx="728356" cy="6918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8356" cy="691894"/>
            </a:xfrm>
            <a:custGeom>
              <a:avLst/>
              <a:gdLst/>
              <a:ahLst/>
              <a:cxnLst/>
              <a:rect l="l" t="t" r="r" b="b"/>
              <a:pathLst>
                <a:path w="728356" h="691894">
                  <a:moveTo>
                    <a:pt x="72625" y="0"/>
                  </a:moveTo>
                  <a:lnTo>
                    <a:pt x="655731" y="0"/>
                  </a:lnTo>
                  <a:cubicBezTo>
                    <a:pt x="695841" y="0"/>
                    <a:pt x="728356" y="32515"/>
                    <a:pt x="728356" y="72625"/>
                  </a:cubicBezTo>
                  <a:lnTo>
                    <a:pt x="728356" y="619268"/>
                  </a:lnTo>
                  <a:cubicBezTo>
                    <a:pt x="728356" y="659378"/>
                    <a:pt x="695841" y="691894"/>
                    <a:pt x="655731" y="691894"/>
                  </a:cubicBezTo>
                  <a:lnTo>
                    <a:pt x="72625" y="691894"/>
                  </a:lnTo>
                  <a:cubicBezTo>
                    <a:pt x="32515" y="691894"/>
                    <a:pt x="0" y="659378"/>
                    <a:pt x="0" y="619268"/>
                  </a:cubicBezTo>
                  <a:lnTo>
                    <a:pt x="0" y="72625"/>
                  </a:lnTo>
                  <a:cubicBezTo>
                    <a:pt x="0" y="32515"/>
                    <a:pt x="32515" y="0"/>
                    <a:pt x="72625" y="0"/>
                  </a:cubicBezTo>
                  <a:close/>
                </a:path>
              </a:pathLst>
            </a:custGeom>
            <a:solidFill>
              <a:srgbClr val="012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728356" cy="7395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86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845314" y="2253675"/>
            <a:ext cx="4028060" cy="402806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4206" y="0"/>
                  </a:moveTo>
                  <a:lnTo>
                    <a:pt x="768594" y="0"/>
                  </a:lnTo>
                  <a:cubicBezTo>
                    <a:pt x="780318" y="0"/>
                    <a:pt x="791562" y="4657"/>
                    <a:pt x="799852" y="12948"/>
                  </a:cubicBezTo>
                  <a:cubicBezTo>
                    <a:pt x="808143" y="21238"/>
                    <a:pt x="812800" y="32482"/>
                    <a:pt x="812800" y="44206"/>
                  </a:cubicBezTo>
                  <a:lnTo>
                    <a:pt x="812800" y="768594"/>
                  </a:lnTo>
                  <a:cubicBezTo>
                    <a:pt x="812800" y="780318"/>
                    <a:pt x="808143" y="791562"/>
                    <a:pt x="799852" y="799852"/>
                  </a:cubicBezTo>
                  <a:cubicBezTo>
                    <a:pt x="791562" y="808143"/>
                    <a:pt x="780318" y="812800"/>
                    <a:pt x="768594" y="812800"/>
                  </a:cubicBezTo>
                  <a:lnTo>
                    <a:pt x="44206" y="812800"/>
                  </a:lnTo>
                  <a:cubicBezTo>
                    <a:pt x="32482" y="812800"/>
                    <a:pt x="21238" y="808143"/>
                    <a:pt x="12948" y="799852"/>
                  </a:cubicBezTo>
                  <a:cubicBezTo>
                    <a:pt x="4657" y="791562"/>
                    <a:pt x="0" y="780318"/>
                    <a:pt x="0" y="768594"/>
                  </a:cubicBezTo>
                  <a:lnTo>
                    <a:pt x="0" y="44206"/>
                  </a:lnTo>
                  <a:cubicBezTo>
                    <a:pt x="0" y="32482"/>
                    <a:pt x="4657" y="21238"/>
                    <a:pt x="12948" y="12948"/>
                  </a:cubicBezTo>
                  <a:cubicBezTo>
                    <a:pt x="21238" y="4657"/>
                    <a:pt x="32482" y="0"/>
                    <a:pt x="44206" y="0"/>
                  </a:cubicBezTo>
                  <a:close/>
                </a:path>
              </a:pathLst>
            </a:custGeom>
            <a:blipFill>
              <a:blip r:embed="rId4"/>
              <a:stretch>
                <a:fillRect l="-25046" r="-25046"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132098" y="6121670"/>
            <a:ext cx="2765478" cy="2223894"/>
            <a:chOff x="0" y="0"/>
            <a:chExt cx="728356" cy="58571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28356" cy="585717"/>
            </a:xfrm>
            <a:custGeom>
              <a:avLst/>
              <a:gdLst/>
              <a:ahLst/>
              <a:cxnLst/>
              <a:rect l="l" t="t" r="r" b="b"/>
              <a:pathLst>
                <a:path w="728356" h="585717">
                  <a:moveTo>
                    <a:pt x="83985" y="0"/>
                  </a:moveTo>
                  <a:lnTo>
                    <a:pt x="644372" y="0"/>
                  </a:lnTo>
                  <a:cubicBezTo>
                    <a:pt x="666646" y="0"/>
                    <a:pt x="688008" y="8848"/>
                    <a:pt x="703758" y="24599"/>
                  </a:cubicBezTo>
                  <a:cubicBezTo>
                    <a:pt x="719508" y="40349"/>
                    <a:pt x="728356" y="61711"/>
                    <a:pt x="728356" y="83985"/>
                  </a:cubicBezTo>
                  <a:lnTo>
                    <a:pt x="728356" y="501732"/>
                  </a:lnTo>
                  <a:cubicBezTo>
                    <a:pt x="728356" y="548116"/>
                    <a:pt x="690755" y="585717"/>
                    <a:pt x="644372" y="585717"/>
                  </a:cubicBezTo>
                  <a:lnTo>
                    <a:pt x="83985" y="585717"/>
                  </a:lnTo>
                  <a:cubicBezTo>
                    <a:pt x="37601" y="585717"/>
                    <a:pt x="0" y="548116"/>
                    <a:pt x="0" y="501732"/>
                  </a:cubicBezTo>
                  <a:lnTo>
                    <a:pt x="0" y="83985"/>
                  </a:lnTo>
                  <a:cubicBezTo>
                    <a:pt x="0" y="37601"/>
                    <a:pt x="37601" y="0"/>
                    <a:pt x="8398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728356" cy="6333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86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800786" y="7415978"/>
            <a:ext cx="2955868" cy="2175210"/>
            <a:chOff x="0" y="0"/>
            <a:chExt cx="778500" cy="5728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78500" cy="572895"/>
            </a:xfrm>
            <a:custGeom>
              <a:avLst/>
              <a:gdLst/>
              <a:ahLst/>
              <a:cxnLst/>
              <a:rect l="l" t="t" r="r" b="b"/>
              <a:pathLst>
                <a:path w="778500" h="572895">
                  <a:moveTo>
                    <a:pt x="78575" y="0"/>
                  </a:moveTo>
                  <a:lnTo>
                    <a:pt x="699925" y="0"/>
                  </a:lnTo>
                  <a:cubicBezTo>
                    <a:pt x="720765" y="0"/>
                    <a:pt x="740751" y="8278"/>
                    <a:pt x="755486" y="23014"/>
                  </a:cubicBezTo>
                  <a:cubicBezTo>
                    <a:pt x="770222" y="37750"/>
                    <a:pt x="778500" y="57736"/>
                    <a:pt x="778500" y="78575"/>
                  </a:cubicBezTo>
                  <a:lnTo>
                    <a:pt x="778500" y="494320"/>
                  </a:lnTo>
                  <a:cubicBezTo>
                    <a:pt x="778500" y="515159"/>
                    <a:pt x="770222" y="535145"/>
                    <a:pt x="755486" y="549881"/>
                  </a:cubicBezTo>
                  <a:cubicBezTo>
                    <a:pt x="740751" y="564617"/>
                    <a:pt x="720765" y="572895"/>
                    <a:pt x="699925" y="572895"/>
                  </a:cubicBezTo>
                  <a:lnTo>
                    <a:pt x="78575" y="572895"/>
                  </a:lnTo>
                  <a:cubicBezTo>
                    <a:pt x="57736" y="572895"/>
                    <a:pt x="37750" y="564617"/>
                    <a:pt x="23014" y="549881"/>
                  </a:cubicBezTo>
                  <a:cubicBezTo>
                    <a:pt x="8278" y="535145"/>
                    <a:pt x="0" y="515159"/>
                    <a:pt x="0" y="494320"/>
                  </a:cubicBezTo>
                  <a:lnTo>
                    <a:pt x="0" y="78575"/>
                  </a:lnTo>
                  <a:cubicBezTo>
                    <a:pt x="0" y="57736"/>
                    <a:pt x="8278" y="37750"/>
                    <a:pt x="23014" y="23014"/>
                  </a:cubicBezTo>
                  <a:cubicBezTo>
                    <a:pt x="37750" y="8278"/>
                    <a:pt x="57736" y="0"/>
                    <a:pt x="7857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778500" cy="62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86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-3984701" y="7303846"/>
            <a:ext cx="6921335" cy="6921335"/>
          </a:xfrm>
          <a:custGeom>
            <a:avLst/>
            <a:gdLst/>
            <a:ahLst/>
            <a:cxnLst/>
            <a:rect l="l" t="t" r="r" b="b"/>
            <a:pathLst>
              <a:path w="6921335" h="6921335">
                <a:moveTo>
                  <a:pt x="0" y="0"/>
                </a:moveTo>
                <a:lnTo>
                  <a:pt x="6921336" y="0"/>
                </a:lnTo>
                <a:lnTo>
                  <a:pt x="6921336" y="6921335"/>
                </a:lnTo>
                <a:lnTo>
                  <a:pt x="0" y="6921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657680" y="914612"/>
            <a:ext cx="2408856" cy="633830"/>
          </a:xfrm>
          <a:custGeom>
            <a:avLst/>
            <a:gdLst/>
            <a:ahLst/>
            <a:cxnLst/>
            <a:rect l="l" t="t" r="r" b="b"/>
            <a:pathLst>
              <a:path w="2408856" h="633830">
                <a:moveTo>
                  <a:pt x="0" y="0"/>
                </a:moveTo>
                <a:lnTo>
                  <a:pt x="2408855" y="0"/>
                </a:lnTo>
                <a:lnTo>
                  <a:pt x="2408855" y="633830"/>
                </a:lnTo>
                <a:lnTo>
                  <a:pt x="0" y="633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6883090" y="7607738"/>
            <a:ext cx="791259" cy="901720"/>
          </a:xfrm>
          <a:custGeom>
            <a:avLst/>
            <a:gdLst/>
            <a:ahLst/>
            <a:cxnLst/>
            <a:rect l="l" t="t" r="r" b="b"/>
            <a:pathLst>
              <a:path w="791259" h="901720">
                <a:moveTo>
                  <a:pt x="0" y="0"/>
                </a:moveTo>
                <a:lnTo>
                  <a:pt x="791259" y="0"/>
                </a:lnTo>
                <a:lnTo>
                  <a:pt x="791259" y="901720"/>
                </a:lnTo>
                <a:lnTo>
                  <a:pt x="0" y="9017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9609488" y="4439660"/>
            <a:ext cx="2765478" cy="2402646"/>
            <a:chOff x="0" y="0"/>
            <a:chExt cx="728356" cy="63279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28356" cy="632796"/>
            </a:xfrm>
            <a:custGeom>
              <a:avLst/>
              <a:gdLst/>
              <a:ahLst/>
              <a:cxnLst/>
              <a:rect l="l" t="t" r="r" b="b"/>
              <a:pathLst>
                <a:path w="728356" h="632796">
                  <a:moveTo>
                    <a:pt x="83985" y="0"/>
                  </a:moveTo>
                  <a:lnTo>
                    <a:pt x="644372" y="0"/>
                  </a:lnTo>
                  <a:cubicBezTo>
                    <a:pt x="666646" y="0"/>
                    <a:pt x="688008" y="8848"/>
                    <a:pt x="703758" y="24599"/>
                  </a:cubicBezTo>
                  <a:cubicBezTo>
                    <a:pt x="719508" y="40349"/>
                    <a:pt x="728356" y="61711"/>
                    <a:pt x="728356" y="83985"/>
                  </a:cubicBezTo>
                  <a:lnTo>
                    <a:pt x="728356" y="548811"/>
                  </a:lnTo>
                  <a:cubicBezTo>
                    <a:pt x="728356" y="595195"/>
                    <a:pt x="690755" y="632796"/>
                    <a:pt x="644372" y="632796"/>
                  </a:cubicBezTo>
                  <a:lnTo>
                    <a:pt x="83985" y="632796"/>
                  </a:lnTo>
                  <a:cubicBezTo>
                    <a:pt x="37601" y="632796"/>
                    <a:pt x="0" y="595195"/>
                    <a:pt x="0" y="548811"/>
                  </a:cubicBezTo>
                  <a:lnTo>
                    <a:pt x="0" y="83985"/>
                  </a:lnTo>
                  <a:cubicBezTo>
                    <a:pt x="0" y="37601"/>
                    <a:pt x="37601" y="0"/>
                    <a:pt x="8398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728356" cy="680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86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046428" y="1133033"/>
            <a:ext cx="2955868" cy="2175210"/>
            <a:chOff x="0" y="0"/>
            <a:chExt cx="778500" cy="57289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78500" cy="572895"/>
            </a:xfrm>
            <a:custGeom>
              <a:avLst/>
              <a:gdLst/>
              <a:ahLst/>
              <a:cxnLst/>
              <a:rect l="l" t="t" r="r" b="b"/>
              <a:pathLst>
                <a:path w="778500" h="572895">
                  <a:moveTo>
                    <a:pt x="78575" y="0"/>
                  </a:moveTo>
                  <a:lnTo>
                    <a:pt x="699925" y="0"/>
                  </a:lnTo>
                  <a:cubicBezTo>
                    <a:pt x="720765" y="0"/>
                    <a:pt x="740751" y="8278"/>
                    <a:pt x="755486" y="23014"/>
                  </a:cubicBezTo>
                  <a:cubicBezTo>
                    <a:pt x="770222" y="37750"/>
                    <a:pt x="778500" y="57736"/>
                    <a:pt x="778500" y="78575"/>
                  </a:cubicBezTo>
                  <a:lnTo>
                    <a:pt x="778500" y="494320"/>
                  </a:lnTo>
                  <a:cubicBezTo>
                    <a:pt x="778500" y="515159"/>
                    <a:pt x="770222" y="535145"/>
                    <a:pt x="755486" y="549881"/>
                  </a:cubicBezTo>
                  <a:cubicBezTo>
                    <a:pt x="740751" y="564617"/>
                    <a:pt x="720765" y="572895"/>
                    <a:pt x="699925" y="572895"/>
                  </a:cubicBezTo>
                  <a:lnTo>
                    <a:pt x="78575" y="572895"/>
                  </a:lnTo>
                  <a:cubicBezTo>
                    <a:pt x="57736" y="572895"/>
                    <a:pt x="37750" y="564617"/>
                    <a:pt x="23014" y="549881"/>
                  </a:cubicBezTo>
                  <a:cubicBezTo>
                    <a:pt x="8278" y="535145"/>
                    <a:pt x="0" y="515159"/>
                    <a:pt x="0" y="494320"/>
                  </a:cubicBezTo>
                  <a:lnTo>
                    <a:pt x="0" y="78575"/>
                  </a:lnTo>
                  <a:cubicBezTo>
                    <a:pt x="0" y="57736"/>
                    <a:pt x="8278" y="37750"/>
                    <a:pt x="23014" y="23014"/>
                  </a:cubicBezTo>
                  <a:cubicBezTo>
                    <a:pt x="37750" y="8278"/>
                    <a:pt x="57736" y="0"/>
                    <a:pt x="7857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778500" cy="62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86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5103454" y="1548442"/>
            <a:ext cx="822766" cy="822766"/>
          </a:xfrm>
          <a:custGeom>
            <a:avLst/>
            <a:gdLst/>
            <a:ahLst/>
            <a:cxnLst/>
            <a:rect l="l" t="t" r="r" b="b"/>
            <a:pathLst>
              <a:path w="822766" h="822766">
                <a:moveTo>
                  <a:pt x="0" y="0"/>
                </a:moveTo>
                <a:lnTo>
                  <a:pt x="822766" y="0"/>
                </a:lnTo>
                <a:lnTo>
                  <a:pt x="822766" y="822765"/>
                </a:lnTo>
                <a:lnTo>
                  <a:pt x="0" y="8227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5183148" y="6444107"/>
            <a:ext cx="796398" cy="796398"/>
          </a:xfrm>
          <a:custGeom>
            <a:avLst/>
            <a:gdLst/>
            <a:ahLst/>
            <a:cxnLst/>
            <a:rect l="l" t="t" r="r" b="b"/>
            <a:pathLst>
              <a:path w="796398" h="796398">
                <a:moveTo>
                  <a:pt x="0" y="0"/>
                </a:moveTo>
                <a:lnTo>
                  <a:pt x="796398" y="0"/>
                </a:lnTo>
                <a:lnTo>
                  <a:pt x="796398" y="796398"/>
                </a:lnTo>
                <a:lnTo>
                  <a:pt x="0" y="7963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10592185" y="4873874"/>
            <a:ext cx="800084" cy="658069"/>
          </a:xfrm>
          <a:custGeom>
            <a:avLst/>
            <a:gdLst/>
            <a:ahLst/>
            <a:cxnLst/>
            <a:rect l="l" t="t" r="r" b="b"/>
            <a:pathLst>
              <a:path w="800084" h="658069">
                <a:moveTo>
                  <a:pt x="0" y="0"/>
                </a:moveTo>
                <a:lnTo>
                  <a:pt x="800084" y="0"/>
                </a:lnTo>
                <a:lnTo>
                  <a:pt x="800084" y="658069"/>
                </a:lnTo>
                <a:lnTo>
                  <a:pt x="0" y="65806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4454194" y="7387403"/>
            <a:ext cx="2254306" cy="1313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Trusted by 50+ Clients Worldwide</a:t>
            </a:r>
          </a:p>
          <a:p>
            <a:pPr algn="ctr">
              <a:lnSpc>
                <a:spcPts val="2660"/>
              </a:lnSpc>
            </a:pPr>
            <a:endParaRPr lang="en-US" sz="190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ctr">
              <a:lnSpc>
                <a:spcPts val="2660"/>
              </a:lnSpc>
            </a:pPr>
            <a:endParaRPr lang="en-US" sz="190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762869" y="3534470"/>
            <a:ext cx="9485471" cy="1129854"/>
            <a:chOff x="0" y="0"/>
            <a:chExt cx="12647295" cy="1506472"/>
          </a:xfrm>
        </p:grpSpPr>
        <p:sp>
          <p:nvSpPr>
            <p:cNvPr id="31" name="TextBox 31"/>
            <p:cNvSpPr txBox="1"/>
            <p:nvPr/>
          </p:nvSpPr>
          <p:spPr>
            <a:xfrm>
              <a:off x="0" y="89918"/>
              <a:ext cx="8139380" cy="14165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130"/>
                </a:lnSpc>
              </a:pPr>
              <a:r>
                <a:rPr lang="en-US" sz="7324" b="1">
                  <a:solidFill>
                    <a:srgbClr val="F7F7F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WHAT IS 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95558" y="66675"/>
              <a:ext cx="7551737" cy="14164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125"/>
                </a:lnSpc>
              </a:pPr>
              <a:r>
                <a:rPr lang="en-US" sz="7319" b="1">
                  <a:solidFill>
                    <a:srgbClr val="AD67D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EVALSY?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62869" y="4835774"/>
            <a:ext cx="7432958" cy="1285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1874">
                <a:solidFill>
                  <a:srgbClr val="F7F7F7"/>
                </a:solidFill>
                <a:latin typeface="Open Sans"/>
                <a:ea typeface="Open Sans"/>
                <a:cs typeface="Open Sans"/>
                <a:sym typeface="Open Sans"/>
              </a:rPr>
              <a:t>Evalsy is an AI platform that automatically interviews and shortlists candidates — saving you time, cost, and effort in hiring.</a:t>
            </a:r>
          </a:p>
          <a:p>
            <a:pPr algn="l">
              <a:lnSpc>
                <a:spcPts val="2623"/>
              </a:lnSpc>
            </a:pPr>
            <a:endParaRPr lang="en-US" sz="1874">
              <a:solidFill>
                <a:srgbClr val="F7F7F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623"/>
              </a:lnSpc>
            </a:pPr>
            <a:endParaRPr lang="en-US" sz="1874">
              <a:solidFill>
                <a:srgbClr val="F7F7F7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6111411" y="9679136"/>
            <a:ext cx="5143106" cy="290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43"/>
              </a:lnSpc>
              <a:spcBef>
                <a:spcPct val="0"/>
              </a:spcBef>
            </a:pPr>
            <a:r>
              <a:rPr lang="en-US" sz="1674" u="none" strike="noStrike">
                <a:solidFill>
                  <a:srgbClr val="A6A6A6"/>
                </a:solidFill>
                <a:latin typeface="Open Sans"/>
                <a:ea typeface="Open Sans"/>
                <a:cs typeface="Open Sans"/>
                <a:sym typeface="Open Sans"/>
              </a:rPr>
              <a:t>www.evalsy.com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151567" y="8700635"/>
            <a:ext cx="2254306" cy="132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AI Scoring with Ranked Shortlists</a:t>
            </a:r>
          </a:p>
          <a:p>
            <a:pPr algn="ctr">
              <a:lnSpc>
                <a:spcPts val="2660"/>
              </a:lnSpc>
            </a:pPr>
            <a:endParaRPr lang="en-US" sz="19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2660"/>
              </a:lnSpc>
            </a:pPr>
            <a:endParaRPr lang="en-US" sz="19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76667" y="9536579"/>
            <a:ext cx="2759967" cy="132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Hire 5x Faster with 24/7 Interviews</a:t>
            </a:r>
          </a:p>
          <a:p>
            <a:pPr algn="ctr">
              <a:lnSpc>
                <a:spcPts val="2659"/>
              </a:lnSpc>
            </a:pPr>
            <a:endParaRPr lang="en-US" sz="18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2659"/>
              </a:lnSpc>
            </a:pPr>
            <a:endParaRPr lang="en-US" sz="18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9865074" y="5830320"/>
            <a:ext cx="2254306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Up to 70% Lower Hiring Costs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387684" y="2414723"/>
            <a:ext cx="2254306" cy="647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Pay Only for What You Use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-524033" y="3165369"/>
            <a:ext cx="8782308" cy="257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spc="114" dirty="0">
                <a:solidFill>
                  <a:srgbClr val="F7F7F7"/>
                </a:solidFill>
                <a:latin typeface="Open Sans"/>
                <a:ea typeface="Open Sans"/>
                <a:cs typeface="Open Sans"/>
                <a:sym typeface="Open Sans"/>
              </a:rPr>
              <a:t>HIRE SMARTER &amp; FASTER WITH AI-POWERED VIDEO INTERVIEWS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5428CF5-F44E-D82E-0F8F-06C29E1085E0}"/>
              </a:ext>
            </a:extLst>
          </p:cNvPr>
          <p:cNvSpPr txBox="1"/>
          <p:nvPr/>
        </p:nvSpPr>
        <p:spPr>
          <a:xfrm>
            <a:off x="-4207101" y="1605366"/>
            <a:ext cx="12621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b="1" i="0" dirty="0">
                <a:solidFill>
                  <a:srgbClr val="FFFFFF"/>
                </a:solidFill>
                <a:effectLst/>
              </a:rPr>
              <a:t>Powered By </a:t>
            </a:r>
            <a:r>
              <a:rPr lang="en-US" b="1" i="0" dirty="0" err="1">
                <a:solidFill>
                  <a:srgbClr val="FFFFFF"/>
                </a:solidFill>
                <a:effectLst/>
              </a:rPr>
              <a:t>BigJobs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</a:t>
            </a:r>
            <a:endParaRPr lang="en-US" dirty="0"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8DFE5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6801" y="3346656"/>
            <a:ext cx="16252499" cy="6180581"/>
            <a:chOff x="0" y="0"/>
            <a:chExt cx="4280494" cy="16278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80494" cy="1627807"/>
            </a:xfrm>
            <a:custGeom>
              <a:avLst/>
              <a:gdLst/>
              <a:ahLst/>
              <a:cxnLst/>
              <a:rect l="l" t="t" r="r" b="b"/>
              <a:pathLst>
                <a:path w="4280494" h="1627807">
                  <a:moveTo>
                    <a:pt x="14291" y="0"/>
                  </a:moveTo>
                  <a:lnTo>
                    <a:pt x="4266203" y="0"/>
                  </a:lnTo>
                  <a:cubicBezTo>
                    <a:pt x="4269993" y="0"/>
                    <a:pt x="4273628" y="1506"/>
                    <a:pt x="4276308" y="4186"/>
                  </a:cubicBezTo>
                  <a:cubicBezTo>
                    <a:pt x="4278988" y="6866"/>
                    <a:pt x="4280494" y="10500"/>
                    <a:pt x="4280494" y="14291"/>
                  </a:cubicBezTo>
                  <a:lnTo>
                    <a:pt x="4280494" y="1613517"/>
                  </a:lnTo>
                  <a:cubicBezTo>
                    <a:pt x="4280494" y="1617307"/>
                    <a:pt x="4278988" y="1620942"/>
                    <a:pt x="4276308" y="1623622"/>
                  </a:cubicBezTo>
                  <a:cubicBezTo>
                    <a:pt x="4273628" y="1626302"/>
                    <a:pt x="4269993" y="1627807"/>
                    <a:pt x="4266203" y="1627807"/>
                  </a:cubicBezTo>
                  <a:lnTo>
                    <a:pt x="14291" y="1627807"/>
                  </a:lnTo>
                  <a:cubicBezTo>
                    <a:pt x="10500" y="1627807"/>
                    <a:pt x="6866" y="1626302"/>
                    <a:pt x="4186" y="1623622"/>
                  </a:cubicBezTo>
                  <a:cubicBezTo>
                    <a:pt x="1506" y="1620942"/>
                    <a:pt x="0" y="1617307"/>
                    <a:pt x="0" y="1613517"/>
                  </a:cubicBezTo>
                  <a:lnTo>
                    <a:pt x="0" y="14291"/>
                  </a:lnTo>
                  <a:cubicBezTo>
                    <a:pt x="0" y="10500"/>
                    <a:pt x="1506" y="6866"/>
                    <a:pt x="4186" y="4186"/>
                  </a:cubicBezTo>
                  <a:cubicBezTo>
                    <a:pt x="6866" y="1506"/>
                    <a:pt x="10500" y="0"/>
                    <a:pt x="142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80494" cy="16754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8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72048" y="4216949"/>
            <a:ext cx="1202368" cy="1135454"/>
            <a:chOff x="0" y="0"/>
            <a:chExt cx="453390" cy="428371"/>
          </a:xfrm>
        </p:grpSpPr>
        <p:sp>
          <p:nvSpPr>
            <p:cNvPr id="6" name="Freeform 6"/>
            <p:cNvSpPr/>
            <p:nvPr/>
          </p:nvSpPr>
          <p:spPr>
            <a:xfrm>
              <a:off x="2259" y="0"/>
              <a:ext cx="448871" cy="427692"/>
            </a:xfrm>
            <a:custGeom>
              <a:avLst/>
              <a:gdLst/>
              <a:ahLst/>
              <a:cxnLst/>
              <a:rect l="l" t="t" r="r" b="b"/>
              <a:pathLst>
                <a:path w="448871" h="427692">
                  <a:moveTo>
                    <a:pt x="300946" y="12899"/>
                  </a:moveTo>
                  <a:lnTo>
                    <a:pt x="301385" y="13052"/>
                  </a:lnTo>
                  <a:cubicBezTo>
                    <a:pt x="325476" y="21488"/>
                    <a:pt x="347964" y="33946"/>
                    <a:pt x="367891" y="49897"/>
                  </a:cubicBezTo>
                  <a:lnTo>
                    <a:pt x="367990" y="49977"/>
                  </a:lnTo>
                  <a:cubicBezTo>
                    <a:pt x="387839" y="65865"/>
                    <a:pt x="404715" y="85145"/>
                    <a:pt x="417835" y="106923"/>
                  </a:cubicBezTo>
                  <a:lnTo>
                    <a:pt x="418265" y="107637"/>
                  </a:lnTo>
                  <a:cubicBezTo>
                    <a:pt x="431096" y="128934"/>
                    <a:pt x="439951" y="152385"/>
                    <a:pt x="444401" y="176847"/>
                  </a:cubicBezTo>
                  <a:lnTo>
                    <a:pt x="444401" y="176847"/>
                  </a:lnTo>
                  <a:cubicBezTo>
                    <a:pt x="448851" y="201314"/>
                    <a:pt x="448872" y="226382"/>
                    <a:pt x="444460" y="250856"/>
                  </a:cubicBezTo>
                  <a:lnTo>
                    <a:pt x="444401" y="251184"/>
                  </a:lnTo>
                  <a:cubicBezTo>
                    <a:pt x="439953" y="275864"/>
                    <a:pt x="430983" y="299509"/>
                    <a:pt x="417944" y="320930"/>
                  </a:cubicBezTo>
                  <a:lnTo>
                    <a:pt x="417835" y="321109"/>
                  </a:lnTo>
                  <a:cubicBezTo>
                    <a:pt x="404712" y="342666"/>
                    <a:pt x="387920" y="361763"/>
                    <a:pt x="368217" y="377534"/>
                  </a:cubicBezTo>
                  <a:lnTo>
                    <a:pt x="367891" y="377795"/>
                  </a:lnTo>
                  <a:cubicBezTo>
                    <a:pt x="347964" y="393746"/>
                    <a:pt x="325476" y="406204"/>
                    <a:pt x="301385" y="414640"/>
                  </a:cubicBezTo>
                  <a:lnTo>
                    <a:pt x="300946" y="414793"/>
                  </a:lnTo>
                  <a:cubicBezTo>
                    <a:pt x="276562" y="423331"/>
                    <a:pt x="250912" y="427692"/>
                    <a:pt x="225077" y="427692"/>
                  </a:cubicBezTo>
                  <a:lnTo>
                    <a:pt x="223795" y="427692"/>
                  </a:lnTo>
                  <a:cubicBezTo>
                    <a:pt x="197960" y="427692"/>
                    <a:pt x="172310" y="423331"/>
                    <a:pt x="147926" y="414793"/>
                  </a:cubicBezTo>
                  <a:lnTo>
                    <a:pt x="147487" y="414640"/>
                  </a:lnTo>
                  <a:cubicBezTo>
                    <a:pt x="123396" y="406204"/>
                    <a:pt x="100908" y="393746"/>
                    <a:pt x="80981" y="377795"/>
                  </a:cubicBezTo>
                  <a:lnTo>
                    <a:pt x="80655" y="377534"/>
                  </a:lnTo>
                  <a:cubicBezTo>
                    <a:pt x="60952" y="361763"/>
                    <a:pt x="44160" y="342666"/>
                    <a:pt x="31037" y="321109"/>
                  </a:cubicBezTo>
                  <a:lnTo>
                    <a:pt x="30928" y="320930"/>
                  </a:lnTo>
                  <a:cubicBezTo>
                    <a:pt x="17889" y="299509"/>
                    <a:pt x="8919" y="275864"/>
                    <a:pt x="4471" y="251184"/>
                  </a:cubicBezTo>
                  <a:lnTo>
                    <a:pt x="4412" y="250856"/>
                  </a:lnTo>
                  <a:cubicBezTo>
                    <a:pt x="0" y="226382"/>
                    <a:pt x="21" y="201314"/>
                    <a:pt x="4471" y="176847"/>
                  </a:cubicBezTo>
                  <a:lnTo>
                    <a:pt x="4471" y="176847"/>
                  </a:lnTo>
                  <a:cubicBezTo>
                    <a:pt x="8921" y="152385"/>
                    <a:pt x="17776" y="128934"/>
                    <a:pt x="30607" y="107637"/>
                  </a:cubicBezTo>
                  <a:lnTo>
                    <a:pt x="31037" y="106923"/>
                  </a:lnTo>
                  <a:cubicBezTo>
                    <a:pt x="44157" y="85145"/>
                    <a:pt x="61033" y="65865"/>
                    <a:pt x="80882" y="49977"/>
                  </a:cubicBezTo>
                  <a:lnTo>
                    <a:pt x="80981" y="49897"/>
                  </a:lnTo>
                  <a:cubicBezTo>
                    <a:pt x="100908" y="33946"/>
                    <a:pt x="123396" y="21488"/>
                    <a:pt x="147487" y="13052"/>
                  </a:cubicBezTo>
                  <a:lnTo>
                    <a:pt x="147926" y="12899"/>
                  </a:lnTo>
                  <a:cubicBezTo>
                    <a:pt x="172310" y="4361"/>
                    <a:pt x="197960" y="0"/>
                    <a:pt x="223795" y="0"/>
                  </a:cubicBezTo>
                  <a:lnTo>
                    <a:pt x="225077" y="0"/>
                  </a:lnTo>
                  <a:cubicBezTo>
                    <a:pt x="250912" y="0"/>
                    <a:pt x="276562" y="4361"/>
                    <a:pt x="300946" y="12899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8132" y="61990"/>
              <a:ext cx="317126" cy="3037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86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26078" y="4169579"/>
            <a:ext cx="1202297" cy="1135454"/>
            <a:chOff x="0" y="0"/>
            <a:chExt cx="453390" cy="428117"/>
          </a:xfrm>
        </p:grpSpPr>
        <p:sp>
          <p:nvSpPr>
            <p:cNvPr id="9" name="Freeform 9"/>
            <p:cNvSpPr/>
            <p:nvPr/>
          </p:nvSpPr>
          <p:spPr>
            <a:xfrm>
              <a:off x="2259" y="0"/>
              <a:ext cx="448871" cy="427439"/>
            </a:xfrm>
            <a:custGeom>
              <a:avLst/>
              <a:gdLst/>
              <a:ahLst/>
              <a:cxnLst/>
              <a:rect l="l" t="t" r="r" b="b"/>
              <a:pathLst>
                <a:path w="448871" h="427439">
                  <a:moveTo>
                    <a:pt x="300946" y="12891"/>
                  </a:moveTo>
                  <a:lnTo>
                    <a:pt x="301391" y="13047"/>
                  </a:lnTo>
                  <a:cubicBezTo>
                    <a:pt x="325478" y="21476"/>
                    <a:pt x="347964" y="33926"/>
                    <a:pt x="367891" y="49868"/>
                  </a:cubicBezTo>
                  <a:lnTo>
                    <a:pt x="367996" y="49952"/>
                  </a:lnTo>
                  <a:cubicBezTo>
                    <a:pt x="387841" y="65827"/>
                    <a:pt x="404715" y="85095"/>
                    <a:pt x="417835" y="106860"/>
                  </a:cubicBezTo>
                  <a:lnTo>
                    <a:pt x="418268" y="107577"/>
                  </a:lnTo>
                  <a:cubicBezTo>
                    <a:pt x="431096" y="128859"/>
                    <a:pt x="439951" y="152295"/>
                    <a:pt x="444401" y="176742"/>
                  </a:cubicBezTo>
                  <a:lnTo>
                    <a:pt x="444401" y="176742"/>
                  </a:lnTo>
                  <a:cubicBezTo>
                    <a:pt x="448851" y="201195"/>
                    <a:pt x="448872" y="226248"/>
                    <a:pt x="444460" y="250707"/>
                  </a:cubicBezTo>
                  <a:lnTo>
                    <a:pt x="444401" y="251035"/>
                  </a:lnTo>
                  <a:cubicBezTo>
                    <a:pt x="439953" y="275700"/>
                    <a:pt x="430984" y="299330"/>
                    <a:pt x="417946" y="320735"/>
                  </a:cubicBezTo>
                  <a:lnTo>
                    <a:pt x="417835" y="320918"/>
                  </a:lnTo>
                  <a:cubicBezTo>
                    <a:pt x="404712" y="342463"/>
                    <a:pt x="387922" y="361547"/>
                    <a:pt x="368223" y="377305"/>
                  </a:cubicBezTo>
                  <a:lnTo>
                    <a:pt x="367891" y="377571"/>
                  </a:lnTo>
                  <a:cubicBezTo>
                    <a:pt x="347964" y="393513"/>
                    <a:pt x="325478" y="405963"/>
                    <a:pt x="301391" y="414392"/>
                  </a:cubicBezTo>
                  <a:lnTo>
                    <a:pt x="300946" y="414548"/>
                  </a:lnTo>
                  <a:cubicBezTo>
                    <a:pt x="276562" y="423080"/>
                    <a:pt x="250913" y="427439"/>
                    <a:pt x="225079" y="427439"/>
                  </a:cubicBezTo>
                  <a:lnTo>
                    <a:pt x="223793" y="427439"/>
                  </a:lnTo>
                  <a:cubicBezTo>
                    <a:pt x="197959" y="427439"/>
                    <a:pt x="172310" y="423080"/>
                    <a:pt x="147926" y="414548"/>
                  </a:cubicBezTo>
                  <a:lnTo>
                    <a:pt x="147481" y="414392"/>
                  </a:lnTo>
                  <a:cubicBezTo>
                    <a:pt x="123394" y="405963"/>
                    <a:pt x="100908" y="393513"/>
                    <a:pt x="80981" y="377571"/>
                  </a:cubicBezTo>
                  <a:lnTo>
                    <a:pt x="80649" y="377305"/>
                  </a:lnTo>
                  <a:cubicBezTo>
                    <a:pt x="60950" y="361547"/>
                    <a:pt x="44160" y="342463"/>
                    <a:pt x="31037" y="320918"/>
                  </a:cubicBezTo>
                  <a:lnTo>
                    <a:pt x="30926" y="320735"/>
                  </a:lnTo>
                  <a:cubicBezTo>
                    <a:pt x="17888" y="299330"/>
                    <a:pt x="8919" y="275700"/>
                    <a:pt x="4471" y="251035"/>
                  </a:cubicBezTo>
                  <a:lnTo>
                    <a:pt x="4412" y="250707"/>
                  </a:lnTo>
                  <a:cubicBezTo>
                    <a:pt x="0" y="226248"/>
                    <a:pt x="21" y="201195"/>
                    <a:pt x="4471" y="176742"/>
                  </a:cubicBezTo>
                  <a:lnTo>
                    <a:pt x="4471" y="176742"/>
                  </a:lnTo>
                  <a:cubicBezTo>
                    <a:pt x="8921" y="152295"/>
                    <a:pt x="17776" y="128859"/>
                    <a:pt x="30604" y="107577"/>
                  </a:cubicBezTo>
                  <a:lnTo>
                    <a:pt x="31037" y="106860"/>
                  </a:lnTo>
                  <a:cubicBezTo>
                    <a:pt x="44157" y="85095"/>
                    <a:pt x="61031" y="65827"/>
                    <a:pt x="80876" y="49952"/>
                  </a:cubicBezTo>
                  <a:lnTo>
                    <a:pt x="80981" y="49868"/>
                  </a:lnTo>
                  <a:cubicBezTo>
                    <a:pt x="100908" y="33926"/>
                    <a:pt x="123394" y="21476"/>
                    <a:pt x="147481" y="13047"/>
                  </a:cubicBezTo>
                  <a:lnTo>
                    <a:pt x="147926" y="12891"/>
                  </a:lnTo>
                  <a:cubicBezTo>
                    <a:pt x="172310" y="4358"/>
                    <a:pt x="197959" y="0"/>
                    <a:pt x="223793" y="0"/>
                  </a:cubicBezTo>
                  <a:lnTo>
                    <a:pt x="225079" y="0"/>
                  </a:lnTo>
                  <a:cubicBezTo>
                    <a:pt x="250913" y="0"/>
                    <a:pt x="276562" y="4358"/>
                    <a:pt x="300946" y="12891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8132" y="61954"/>
              <a:ext cx="317126" cy="303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86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026078" y="7213902"/>
            <a:ext cx="1198700" cy="1132057"/>
            <a:chOff x="0" y="0"/>
            <a:chExt cx="453390" cy="428244"/>
          </a:xfrm>
        </p:grpSpPr>
        <p:sp>
          <p:nvSpPr>
            <p:cNvPr id="12" name="Freeform 12"/>
            <p:cNvSpPr/>
            <p:nvPr/>
          </p:nvSpPr>
          <p:spPr>
            <a:xfrm>
              <a:off x="2259" y="0"/>
              <a:ext cx="448871" cy="427565"/>
            </a:xfrm>
            <a:custGeom>
              <a:avLst/>
              <a:gdLst/>
              <a:ahLst/>
              <a:cxnLst/>
              <a:rect l="l" t="t" r="r" b="b"/>
              <a:pathLst>
                <a:path w="448871" h="427565">
                  <a:moveTo>
                    <a:pt x="300946" y="12895"/>
                  </a:moveTo>
                  <a:lnTo>
                    <a:pt x="301388" y="13050"/>
                  </a:lnTo>
                  <a:cubicBezTo>
                    <a:pt x="325477" y="21482"/>
                    <a:pt x="347964" y="33936"/>
                    <a:pt x="367891" y="49883"/>
                  </a:cubicBezTo>
                  <a:lnTo>
                    <a:pt x="367993" y="49964"/>
                  </a:lnTo>
                  <a:cubicBezTo>
                    <a:pt x="387840" y="65846"/>
                    <a:pt x="404715" y="85120"/>
                    <a:pt x="417835" y="106891"/>
                  </a:cubicBezTo>
                  <a:lnTo>
                    <a:pt x="418266" y="107607"/>
                  </a:lnTo>
                  <a:cubicBezTo>
                    <a:pt x="431096" y="128897"/>
                    <a:pt x="439951" y="152340"/>
                    <a:pt x="444401" y="176795"/>
                  </a:cubicBezTo>
                  <a:lnTo>
                    <a:pt x="444401" y="176795"/>
                  </a:lnTo>
                  <a:cubicBezTo>
                    <a:pt x="448851" y="201254"/>
                    <a:pt x="448872" y="226315"/>
                    <a:pt x="444460" y="250781"/>
                  </a:cubicBezTo>
                  <a:lnTo>
                    <a:pt x="444401" y="251110"/>
                  </a:lnTo>
                  <a:cubicBezTo>
                    <a:pt x="439953" y="275782"/>
                    <a:pt x="430983" y="299420"/>
                    <a:pt x="417945" y="320833"/>
                  </a:cubicBezTo>
                  <a:lnTo>
                    <a:pt x="417835" y="321013"/>
                  </a:lnTo>
                  <a:cubicBezTo>
                    <a:pt x="404712" y="342565"/>
                    <a:pt x="387921" y="361655"/>
                    <a:pt x="368220" y="377420"/>
                  </a:cubicBezTo>
                  <a:lnTo>
                    <a:pt x="367891" y="377683"/>
                  </a:lnTo>
                  <a:cubicBezTo>
                    <a:pt x="347964" y="393629"/>
                    <a:pt x="325477" y="406083"/>
                    <a:pt x="301388" y="414516"/>
                  </a:cubicBezTo>
                  <a:lnTo>
                    <a:pt x="300946" y="414671"/>
                  </a:lnTo>
                  <a:cubicBezTo>
                    <a:pt x="276562" y="423206"/>
                    <a:pt x="250912" y="427565"/>
                    <a:pt x="225078" y="427565"/>
                  </a:cubicBezTo>
                  <a:lnTo>
                    <a:pt x="223794" y="427565"/>
                  </a:lnTo>
                  <a:cubicBezTo>
                    <a:pt x="197959" y="427565"/>
                    <a:pt x="172310" y="423206"/>
                    <a:pt x="147926" y="414671"/>
                  </a:cubicBezTo>
                  <a:lnTo>
                    <a:pt x="147484" y="414516"/>
                  </a:lnTo>
                  <a:cubicBezTo>
                    <a:pt x="123395" y="406083"/>
                    <a:pt x="100908" y="393629"/>
                    <a:pt x="80981" y="377683"/>
                  </a:cubicBezTo>
                  <a:lnTo>
                    <a:pt x="80652" y="377420"/>
                  </a:lnTo>
                  <a:cubicBezTo>
                    <a:pt x="60951" y="361655"/>
                    <a:pt x="44160" y="342565"/>
                    <a:pt x="31037" y="321013"/>
                  </a:cubicBezTo>
                  <a:lnTo>
                    <a:pt x="30927" y="320833"/>
                  </a:lnTo>
                  <a:cubicBezTo>
                    <a:pt x="17889" y="299420"/>
                    <a:pt x="8919" y="275782"/>
                    <a:pt x="4471" y="251110"/>
                  </a:cubicBezTo>
                  <a:lnTo>
                    <a:pt x="4412" y="250781"/>
                  </a:lnTo>
                  <a:cubicBezTo>
                    <a:pt x="0" y="226315"/>
                    <a:pt x="21" y="201254"/>
                    <a:pt x="4471" y="176795"/>
                  </a:cubicBezTo>
                  <a:lnTo>
                    <a:pt x="4471" y="176795"/>
                  </a:lnTo>
                  <a:cubicBezTo>
                    <a:pt x="8921" y="152340"/>
                    <a:pt x="17776" y="128897"/>
                    <a:pt x="30606" y="107607"/>
                  </a:cubicBezTo>
                  <a:lnTo>
                    <a:pt x="31037" y="106891"/>
                  </a:lnTo>
                  <a:cubicBezTo>
                    <a:pt x="44157" y="85120"/>
                    <a:pt x="61032" y="65846"/>
                    <a:pt x="80879" y="49964"/>
                  </a:cubicBezTo>
                  <a:lnTo>
                    <a:pt x="80981" y="49883"/>
                  </a:lnTo>
                  <a:cubicBezTo>
                    <a:pt x="100908" y="33936"/>
                    <a:pt x="123395" y="21482"/>
                    <a:pt x="147484" y="13050"/>
                  </a:cubicBezTo>
                  <a:lnTo>
                    <a:pt x="147926" y="12895"/>
                  </a:lnTo>
                  <a:cubicBezTo>
                    <a:pt x="172310" y="4359"/>
                    <a:pt x="197959" y="0"/>
                    <a:pt x="223794" y="0"/>
                  </a:cubicBezTo>
                  <a:lnTo>
                    <a:pt x="225078" y="0"/>
                  </a:lnTo>
                  <a:cubicBezTo>
                    <a:pt x="250912" y="0"/>
                    <a:pt x="276562" y="4359"/>
                    <a:pt x="300946" y="12895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132" y="61972"/>
              <a:ext cx="317126" cy="3037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86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-2621533" y="7135110"/>
            <a:ext cx="5768177" cy="5768177"/>
          </a:xfrm>
          <a:custGeom>
            <a:avLst/>
            <a:gdLst/>
            <a:ahLst/>
            <a:cxnLst/>
            <a:rect l="l" t="t" r="r" b="b"/>
            <a:pathLst>
              <a:path w="5768177" h="5768177">
                <a:moveTo>
                  <a:pt x="0" y="0"/>
                </a:moveTo>
                <a:lnTo>
                  <a:pt x="5768177" y="0"/>
                </a:lnTo>
                <a:lnTo>
                  <a:pt x="5768177" y="5768177"/>
                </a:lnTo>
                <a:lnTo>
                  <a:pt x="0" y="5768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1780005" y="7183161"/>
            <a:ext cx="1263727" cy="1193538"/>
            <a:chOff x="0" y="0"/>
            <a:chExt cx="453390" cy="428117"/>
          </a:xfrm>
        </p:grpSpPr>
        <p:sp>
          <p:nvSpPr>
            <p:cNvPr id="16" name="Freeform 16"/>
            <p:cNvSpPr/>
            <p:nvPr/>
          </p:nvSpPr>
          <p:spPr>
            <a:xfrm>
              <a:off x="2259" y="0"/>
              <a:ext cx="448871" cy="427439"/>
            </a:xfrm>
            <a:custGeom>
              <a:avLst/>
              <a:gdLst/>
              <a:ahLst/>
              <a:cxnLst/>
              <a:rect l="l" t="t" r="r" b="b"/>
              <a:pathLst>
                <a:path w="448871" h="427439">
                  <a:moveTo>
                    <a:pt x="300946" y="12891"/>
                  </a:moveTo>
                  <a:lnTo>
                    <a:pt x="301391" y="13047"/>
                  </a:lnTo>
                  <a:cubicBezTo>
                    <a:pt x="325478" y="21476"/>
                    <a:pt x="347964" y="33926"/>
                    <a:pt x="367891" y="49868"/>
                  </a:cubicBezTo>
                  <a:lnTo>
                    <a:pt x="367996" y="49952"/>
                  </a:lnTo>
                  <a:cubicBezTo>
                    <a:pt x="387841" y="65827"/>
                    <a:pt x="404715" y="85095"/>
                    <a:pt x="417835" y="106860"/>
                  </a:cubicBezTo>
                  <a:lnTo>
                    <a:pt x="418268" y="107577"/>
                  </a:lnTo>
                  <a:cubicBezTo>
                    <a:pt x="431096" y="128859"/>
                    <a:pt x="439951" y="152295"/>
                    <a:pt x="444401" y="176742"/>
                  </a:cubicBezTo>
                  <a:lnTo>
                    <a:pt x="444401" y="176742"/>
                  </a:lnTo>
                  <a:cubicBezTo>
                    <a:pt x="448851" y="201195"/>
                    <a:pt x="448872" y="226248"/>
                    <a:pt x="444460" y="250707"/>
                  </a:cubicBezTo>
                  <a:lnTo>
                    <a:pt x="444401" y="251035"/>
                  </a:lnTo>
                  <a:cubicBezTo>
                    <a:pt x="439953" y="275700"/>
                    <a:pt x="430984" y="299330"/>
                    <a:pt x="417946" y="320735"/>
                  </a:cubicBezTo>
                  <a:lnTo>
                    <a:pt x="417835" y="320918"/>
                  </a:lnTo>
                  <a:cubicBezTo>
                    <a:pt x="404712" y="342463"/>
                    <a:pt x="387922" y="361547"/>
                    <a:pt x="368223" y="377305"/>
                  </a:cubicBezTo>
                  <a:lnTo>
                    <a:pt x="367891" y="377571"/>
                  </a:lnTo>
                  <a:cubicBezTo>
                    <a:pt x="347964" y="393513"/>
                    <a:pt x="325478" y="405963"/>
                    <a:pt x="301391" y="414392"/>
                  </a:cubicBezTo>
                  <a:lnTo>
                    <a:pt x="300946" y="414548"/>
                  </a:lnTo>
                  <a:cubicBezTo>
                    <a:pt x="276562" y="423080"/>
                    <a:pt x="250913" y="427439"/>
                    <a:pt x="225079" y="427439"/>
                  </a:cubicBezTo>
                  <a:lnTo>
                    <a:pt x="223793" y="427439"/>
                  </a:lnTo>
                  <a:cubicBezTo>
                    <a:pt x="197959" y="427439"/>
                    <a:pt x="172310" y="423080"/>
                    <a:pt x="147926" y="414548"/>
                  </a:cubicBezTo>
                  <a:lnTo>
                    <a:pt x="147481" y="414392"/>
                  </a:lnTo>
                  <a:cubicBezTo>
                    <a:pt x="123394" y="405963"/>
                    <a:pt x="100908" y="393513"/>
                    <a:pt x="80981" y="377571"/>
                  </a:cubicBezTo>
                  <a:lnTo>
                    <a:pt x="80649" y="377305"/>
                  </a:lnTo>
                  <a:cubicBezTo>
                    <a:pt x="60950" y="361547"/>
                    <a:pt x="44160" y="342463"/>
                    <a:pt x="31037" y="320918"/>
                  </a:cubicBezTo>
                  <a:lnTo>
                    <a:pt x="30926" y="320735"/>
                  </a:lnTo>
                  <a:cubicBezTo>
                    <a:pt x="17888" y="299330"/>
                    <a:pt x="8919" y="275700"/>
                    <a:pt x="4471" y="251035"/>
                  </a:cubicBezTo>
                  <a:lnTo>
                    <a:pt x="4412" y="250707"/>
                  </a:lnTo>
                  <a:cubicBezTo>
                    <a:pt x="0" y="226248"/>
                    <a:pt x="21" y="201195"/>
                    <a:pt x="4471" y="176742"/>
                  </a:cubicBezTo>
                  <a:lnTo>
                    <a:pt x="4471" y="176742"/>
                  </a:lnTo>
                  <a:cubicBezTo>
                    <a:pt x="8921" y="152295"/>
                    <a:pt x="17776" y="128859"/>
                    <a:pt x="30604" y="107577"/>
                  </a:cubicBezTo>
                  <a:lnTo>
                    <a:pt x="31037" y="106860"/>
                  </a:lnTo>
                  <a:cubicBezTo>
                    <a:pt x="44157" y="85095"/>
                    <a:pt x="61031" y="65827"/>
                    <a:pt x="80876" y="49952"/>
                  </a:cubicBezTo>
                  <a:lnTo>
                    <a:pt x="80981" y="49868"/>
                  </a:lnTo>
                  <a:cubicBezTo>
                    <a:pt x="100908" y="33926"/>
                    <a:pt x="123394" y="21476"/>
                    <a:pt x="147481" y="13047"/>
                  </a:cubicBezTo>
                  <a:lnTo>
                    <a:pt x="147926" y="12891"/>
                  </a:lnTo>
                  <a:cubicBezTo>
                    <a:pt x="172310" y="4358"/>
                    <a:pt x="197959" y="0"/>
                    <a:pt x="223793" y="0"/>
                  </a:cubicBezTo>
                  <a:lnTo>
                    <a:pt x="225079" y="0"/>
                  </a:lnTo>
                  <a:cubicBezTo>
                    <a:pt x="250913" y="0"/>
                    <a:pt x="276562" y="4358"/>
                    <a:pt x="300946" y="12891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8132" y="61954"/>
              <a:ext cx="317126" cy="303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86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3200853" y="-3833554"/>
            <a:ext cx="8116893" cy="8116893"/>
          </a:xfrm>
          <a:custGeom>
            <a:avLst/>
            <a:gdLst/>
            <a:ahLst/>
            <a:cxnLst/>
            <a:rect l="l" t="t" r="r" b="b"/>
            <a:pathLst>
              <a:path w="8116893" h="8116893">
                <a:moveTo>
                  <a:pt x="0" y="0"/>
                </a:moveTo>
                <a:lnTo>
                  <a:pt x="8116894" y="0"/>
                </a:lnTo>
                <a:lnTo>
                  <a:pt x="8116894" y="8116894"/>
                </a:lnTo>
                <a:lnTo>
                  <a:pt x="0" y="81168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402884" y="706793"/>
            <a:ext cx="2446798" cy="643814"/>
          </a:xfrm>
          <a:custGeom>
            <a:avLst/>
            <a:gdLst/>
            <a:ahLst/>
            <a:cxnLst/>
            <a:rect l="l" t="t" r="r" b="b"/>
            <a:pathLst>
              <a:path w="2446798" h="643814">
                <a:moveTo>
                  <a:pt x="0" y="0"/>
                </a:moveTo>
                <a:lnTo>
                  <a:pt x="2446798" y="0"/>
                </a:lnTo>
                <a:lnTo>
                  <a:pt x="2446798" y="643814"/>
                </a:lnTo>
                <a:lnTo>
                  <a:pt x="0" y="6438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2062157" y="4473600"/>
            <a:ext cx="622151" cy="622151"/>
          </a:xfrm>
          <a:custGeom>
            <a:avLst/>
            <a:gdLst/>
            <a:ahLst/>
            <a:cxnLst/>
            <a:rect l="l" t="t" r="r" b="b"/>
            <a:pathLst>
              <a:path w="622151" h="622151">
                <a:moveTo>
                  <a:pt x="0" y="0"/>
                </a:moveTo>
                <a:lnTo>
                  <a:pt x="622151" y="0"/>
                </a:lnTo>
                <a:lnTo>
                  <a:pt x="622151" y="622151"/>
                </a:lnTo>
                <a:lnTo>
                  <a:pt x="0" y="6221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0289141" y="4473600"/>
            <a:ext cx="676170" cy="527413"/>
          </a:xfrm>
          <a:custGeom>
            <a:avLst/>
            <a:gdLst/>
            <a:ahLst/>
            <a:cxnLst/>
            <a:rect l="l" t="t" r="r" b="b"/>
            <a:pathLst>
              <a:path w="676170" h="527413">
                <a:moveTo>
                  <a:pt x="0" y="0"/>
                </a:moveTo>
                <a:lnTo>
                  <a:pt x="676170" y="0"/>
                </a:lnTo>
                <a:lnTo>
                  <a:pt x="676170" y="527413"/>
                </a:lnTo>
                <a:lnTo>
                  <a:pt x="0" y="5274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0363987" y="7470863"/>
            <a:ext cx="526479" cy="538597"/>
          </a:xfrm>
          <a:custGeom>
            <a:avLst/>
            <a:gdLst/>
            <a:ahLst/>
            <a:cxnLst/>
            <a:rect l="l" t="t" r="r" b="b"/>
            <a:pathLst>
              <a:path w="526479" h="538597">
                <a:moveTo>
                  <a:pt x="0" y="0"/>
                </a:moveTo>
                <a:lnTo>
                  <a:pt x="526479" y="0"/>
                </a:lnTo>
                <a:lnTo>
                  <a:pt x="526479" y="538598"/>
                </a:lnTo>
                <a:lnTo>
                  <a:pt x="0" y="5385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2139429" y="7550400"/>
            <a:ext cx="544879" cy="459060"/>
          </a:xfrm>
          <a:custGeom>
            <a:avLst/>
            <a:gdLst/>
            <a:ahLst/>
            <a:cxnLst/>
            <a:rect l="l" t="t" r="r" b="b"/>
            <a:pathLst>
              <a:path w="544879" h="459060">
                <a:moveTo>
                  <a:pt x="0" y="0"/>
                </a:moveTo>
                <a:lnTo>
                  <a:pt x="544879" y="0"/>
                </a:lnTo>
                <a:lnTo>
                  <a:pt x="544879" y="459061"/>
                </a:lnTo>
                <a:lnTo>
                  <a:pt x="0" y="45906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5339927" y="1407757"/>
            <a:ext cx="9720774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60"/>
              </a:lnSpc>
            </a:pPr>
            <a:r>
              <a:rPr lang="en-US" sz="6000" b="1" i="1">
                <a:solidFill>
                  <a:srgbClr val="01206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Why Choose Evalsy?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833077" y="4597802"/>
            <a:ext cx="4860387" cy="1868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F7F7F7"/>
                </a:solidFill>
                <a:latin typeface="Open Sans"/>
                <a:ea typeface="Open Sans"/>
                <a:cs typeface="Open Sans"/>
                <a:sym typeface="Open Sans"/>
              </a:rPr>
              <a:t>Candidates can take interviews anytime that works for them. No need for scheduling or live coordination—everything is handled automatically, and you can review responses when you're ready.</a:t>
            </a:r>
          </a:p>
          <a:p>
            <a:pPr algn="l">
              <a:lnSpc>
                <a:spcPts val="2519"/>
              </a:lnSpc>
            </a:pPr>
            <a:endParaRPr lang="en-US" sz="1799">
              <a:solidFill>
                <a:srgbClr val="F7F7F7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036530" y="4597802"/>
            <a:ext cx="4848586" cy="1554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F7F7F7"/>
                </a:solidFill>
                <a:latin typeface="Open Sans"/>
                <a:ea typeface="Open Sans"/>
                <a:cs typeface="Open Sans"/>
                <a:sym typeface="Open Sans"/>
              </a:rPr>
              <a:t>We help keep your hiring process fair by spotting things like impersonation or off-camera help during interviews. You’ll get alerts if something doesn’t seem right.</a:t>
            </a:r>
          </a:p>
          <a:p>
            <a:pPr algn="l">
              <a:lnSpc>
                <a:spcPts val="2519"/>
              </a:lnSpc>
            </a:pPr>
            <a:endParaRPr lang="en-US" sz="1799">
              <a:solidFill>
                <a:srgbClr val="F7F7F7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3833077" y="7582152"/>
            <a:ext cx="4766998" cy="1554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F7F7F7"/>
                </a:solidFill>
                <a:latin typeface="Open Sans"/>
                <a:ea typeface="Open Sans"/>
                <a:cs typeface="Open Sans"/>
                <a:sym typeface="Open Sans"/>
              </a:rPr>
              <a:t>Our system reviews answers and highlights the top candidates based on how well they match your job requirements. It saves you time and helps you focus on who really fits.</a:t>
            </a:r>
          </a:p>
          <a:p>
            <a:pPr algn="l">
              <a:lnSpc>
                <a:spcPts val="2519"/>
              </a:lnSpc>
            </a:pPr>
            <a:endParaRPr lang="en-US" sz="1799">
              <a:solidFill>
                <a:srgbClr val="F7F7F7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2036530" y="7582152"/>
            <a:ext cx="4848586" cy="1554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F7F7F7"/>
                </a:solidFill>
                <a:latin typeface="Open Sans"/>
                <a:ea typeface="Open Sans"/>
                <a:cs typeface="Open Sans"/>
                <a:sym typeface="Open Sans"/>
              </a:rPr>
              <a:t>See how each candidate performed, from response quality to communication style. Our analytics give you a clear view to support better hiring decisions.</a:t>
            </a:r>
          </a:p>
          <a:p>
            <a:pPr algn="l">
              <a:lnSpc>
                <a:spcPts val="2519"/>
              </a:lnSpc>
            </a:pPr>
            <a:endParaRPr lang="en-US" sz="1799">
              <a:solidFill>
                <a:srgbClr val="F7F7F7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3833077" y="3979348"/>
            <a:ext cx="5589317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2500" b="1">
                <a:solidFill>
                  <a:srgbClr val="F7F7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Automated Video Interviews 24/7</a:t>
            </a:r>
          </a:p>
          <a:p>
            <a:pPr algn="l">
              <a:lnSpc>
                <a:spcPts val="2775"/>
              </a:lnSpc>
            </a:pPr>
            <a:endParaRPr lang="en-US" sz="2500" b="1">
              <a:solidFill>
                <a:srgbClr val="F7F7F7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2036530" y="3979348"/>
            <a:ext cx="5116053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2500" b="1">
                <a:solidFill>
                  <a:srgbClr val="E3E7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Real-Time Fraud Detection</a:t>
            </a:r>
          </a:p>
          <a:p>
            <a:pPr algn="l">
              <a:lnSpc>
                <a:spcPts val="2775"/>
              </a:lnSpc>
            </a:pPr>
            <a:endParaRPr lang="en-US" sz="2500" b="1">
              <a:solidFill>
                <a:srgbClr val="E3E7ED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3833077" y="6963697"/>
            <a:ext cx="5589317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2500" b="1">
                <a:solidFill>
                  <a:srgbClr val="E3E7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AI-Driven Candidate Scoring</a:t>
            </a:r>
          </a:p>
          <a:p>
            <a:pPr algn="l">
              <a:lnSpc>
                <a:spcPts val="2775"/>
              </a:lnSpc>
            </a:pPr>
            <a:endParaRPr lang="en-US" sz="2500" b="1">
              <a:solidFill>
                <a:srgbClr val="E3E7ED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2036530" y="6963697"/>
            <a:ext cx="5939295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2500" b="1">
                <a:solidFill>
                  <a:srgbClr val="E3E7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Detailed Interview Analytics</a:t>
            </a:r>
          </a:p>
          <a:p>
            <a:pPr algn="l">
              <a:lnSpc>
                <a:spcPts val="2775"/>
              </a:lnSpc>
            </a:pPr>
            <a:endParaRPr lang="en-US" sz="2500" b="1">
              <a:solidFill>
                <a:srgbClr val="E3E7ED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512617" y="1607904"/>
            <a:ext cx="296821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8C52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Features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36606" y="-578000"/>
            <a:ext cx="3122694" cy="3577118"/>
            <a:chOff x="0" y="0"/>
            <a:chExt cx="822438" cy="9421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2438" cy="942122"/>
            </a:xfrm>
            <a:custGeom>
              <a:avLst/>
              <a:gdLst/>
              <a:ahLst/>
              <a:cxnLst/>
              <a:rect l="l" t="t" r="r" b="b"/>
              <a:pathLst>
                <a:path w="822438" h="942122">
                  <a:moveTo>
                    <a:pt x="74377" y="0"/>
                  </a:moveTo>
                  <a:lnTo>
                    <a:pt x="748061" y="0"/>
                  </a:lnTo>
                  <a:cubicBezTo>
                    <a:pt x="789138" y="0"/>
                    <a:pt x="822438" y="33300"/>
                    <a:pt x="822438" y="74377"/>
                  </a:cubicBezTo>
                  <a:lnTo>
                    <a:pt x="822438" y="867744"/>
                  </a:lnTo>
                  <a:cubicBezTo>
                    <a:pt x="822438" y="908822"/>
                    <a:pt x="789138" y="942122"/>
                    <a:pt x="748061" y="942122"/>
                  </a:cubicBezTo>
                  <a:lnTo>
                    <a:pt x="74377" y="942122"/>
                  </a:lnTo>
                  <a:cubicBezTo>
                    <a:pt x="54651" y="942122"/>
                    <a:pt x="35733" y="934285"/>
                    <a:pt x="21785" y="920337"/>
                  </a:cubicBezTo>
                  <a:cubicBezTo>
                    <a:pt x="7836" y="906388"/>
                    <a:pt x="0" y="887470"/>
                    <a:pt x="0" y="867744"/>
                  </a:cubicBezTo>
                  <a:lnTo>
                    <a:pt x="0" y="74377"/>
                  </a:lnTo>
                  <a:cubicBezTo>
                    <a:pt x="0" y="33300"/>
                    <a:pt x="33300" y="0"/>
                    <a:pt x="7437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822438" cy="9421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86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766200" y="8735148"/>
            <a:ext cx="5171251" cy="5171251"/>
          </a:xfrm>
          <a:custGeom>
            <a:avLst/>
            <a:gdLst/>
            <a:ahLst/>
            <a:cxnLst/>
            <a:rect l="l" t="t" r="r" b="b"/>
            <a:pathLst>
              <a:path w="5171251" h="5171251">
                <a:moveTo>
                  <a:pt x="0" y="0"/>
                </a:moveTo>
                <a:lnTo>
                  <a:pt x="5171251" y="0"/>
                </a:lnTo>
                <a:lnTo>
                  <a:pt x="5171251" y="5171251"/>
                </a:lnTo>
                <a:lnTo>
                  <a:pt x="0" y="5171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1986171" y="7124030"/>
            <a:ext cx="6921335" cy="6921335"/>
          </a:xfrm>
          <a:custGeom>
            <a:avLst/>
            <a:gdLst/>
            <a:ahLst/>
            <a:cxnLst/>
            <a:rect l="l" t="t" r="r" b="b"/>
            <a:pathLst>
              <a:path w="6921335" h="6921335">
                <a:moveTo>
                  <a:pt x="0" y="0"/>
                </a:moveTo>
                <a:lnTo>
                  <a:pt x="6921335" y="0"/>
                </a:lnTo>
                <a:lnTo>
                  <a:pt x="6921335" y="6921335"/>
                </a:lnTo>
                <a:lnTo>
                  <a:pt x="0" y="6921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663716" y="602403"/>
            <a:ext cx="2408856" cy="633830"/>
          </a:xfrm>
          <a:custGeom>
            <a:avLst/>
            <a:gdLst/>
            <a:ahLst/>
            <a:cxnLst/>
            <a:rect l="l" t="t" r="r" b="b"/>
            <a:pathLst>
              <a:path w="2408856" h="633830">
                <a:moveTo>
                  <a:pt x="0" y="0"/>
                </a:moveTo>
                <a:lnTo>
                  <a:pt x="2408856" y="0"/>
                </a:lnTo>
                <a:lnTo>
                  <a:pt x="2408856" y="633830"/>
                </a:lnTo>
                <a:lnTo>
                  <a:pt x="0" y="6338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1430809" y="4104039"/>
            <a:ext cx="6283011" cy="2455182"/>
            <a:chOff x="0" y="0"/>
            <a:chExt cx="1654785" cy="64663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54785" cy="646632"/>
            </a:xfrm>
            <a:custGeom>
              <a:avLst/>
              <a:gdLst/>
              <a:ahLst/>
              <a:cxnLst/>
              <a:rect l="l" t="t" r="r" b="b"/>
              <a:pathLst>
                <a:path w="1654785" h="646632">
                  <a:moveTo>
                    <a:pt x="36966" y="0"/>
                  </a:moveTo>
                  <a:lnTo>
                    <a:pt x="1617819" y="0"/>
                  </a:lnTo>
                  <a:cubicBezTo>
                    <a:pt x="1638235" y="0"/>
                    <a:pt x="1654785" y="16550"/>
                    <a:pt x="1654785" y="36966"/>
                  </a:cubicBezTo>
                  <a:lnTo>
                    <a:pt x="1654785" y="609666"/>
                  </a:lnTo>
                  <a:cubicBezTo>
                    <a:pt x="1654785" y="630082"/>
                    <a:pt x="1638235" y="646632"/>
                    <a:pt x="1617819" y="646632"/>
                  </a:cubicBezTo>
                  <a:lnTo>
                    <a:pt x="36966" y="646632"/>
                  </a:lnTo>
                  <a:cubicBezTo>
                    <a:pt x="27162" y="646632"/>
                    <a:pt x="17760" y="642738"/>
                    <a:pt x="10827" y="635805"/>
                  </a:cubicBezTo>
                  <a:cubicBezTo>
                    <a:pt x="3895" y="628873"/>
                    <a:pt x="0" y="619470"/>
                    <a:pt x="0" y="609666"/>
                  </a:cubicBezTo>
                  <a:lnTo>
                    <a:pt x="0" y="36966"/>
                  </a:lnTo>
                  <a:cubicBezTo>
                    <a:pt x="0" y="16550"/>
                    <a:pt x="16550" y="0"/>
                    <a:pt x="3696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654785" cy="646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86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846253" y="4509462"/>
            <a:ext cx="706329" cy="706329"/>
          </a:xfrm>
          <a:custGeom>
            <a:avLst/>
            <a:gdLst/>
            <a:ahLst/>
            <a:cxnLst/>
            <a:rect l="l" t="t" r="r" b="b"/>
            <a:pathLst>
              <a:path w="706329" h="706329">
                <a:moveTo>
                  <a:pt x="0" y="0"/>
                </a:moveTo>
                <a:lnTo>
                  <a:pt x="706328" y="0"/>
                </a:lnTo>
                <a:lnTo>
                  <a:pt x="706328" y="706329"/>
                </a:lnTo>
                <a:lnTo>
                  <a:pt x="0" y="7063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430809" y="6864021"/>
            <a:ext cx="6283011" cy="2455182"/>
            <a:chOff x="0" y="0"/>
            <a:chExt cx="1654785" cy="6466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54785" cy="646632"/>
            </a:xfrm>
            <a:custGeom>
              <a:avLst/>
              <a:gdLst/>
              <a:ahLst/>
              <a:cxnLst/>
              <a:rect l="l" t="t" r="r" b="b"/>
              <a:pathLst>
                <a:path w="1654785" h="646632">
                  <a:moveTo>
                    <a:pt x="36966" y="0"/>
                  </a:moveTo>
                  <a:lnTo>
                    <a:pt x="1617819" y="0"/>
                  </a:lnTo>
                  <a:cubicBezTo>
                    <a:pt x="1638235" y="0"/>
                    <a:pt x="1654785" y="16550"/>
                    <a:pt x="1654785" y="36966"/>
                  </a:cubicBezTo>
                  <a:lnTo>
                    <a:pt x="1654785" y="609666"/>
                  </a:lnTo>
                  <a:cubicBezTo>
                    <a:pt x="1654785" y="630082"/>
                    <a:pt x="1638235" y="646632"/>
                    <a:pt x="1617819" y="646632"/>
                  </a:cubicBezTo>
                  <a:lnTo>
                    <a:pt x="36966" y="646632"/>
                  </a:lnTo>
                  <a:cubicBezTo>
                    <a:pt x="27162" y="646632"/>
                    <a:pt x="17760" y="642738"/>
                    <a:pt x="10827" y="635805"/>
                  </a:cubicBezTo>
                  <a:cubicBezTo>
                    <a:pt x="3895" y="628873"/>
                    <a:pt x="0" y="619470"/>
                    <a:pt x="0" y="609666"/>
                  </a:cubicBezTo>
                  <a:lnTo>
                    <a:pt x="0" y="36966"/>
                  </a:lnTo>
                  <a:cubicBezTo>
                    <a:pt x="0" y="16550"/>
                    <a:pt x="16550" y="0"/>
                    <a:pt x="3696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654785" cy="646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86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846253" y="7347408"/>
            <a:ext cx="626181" cy="626181"/>
          </a:xfrm>
          <a:custGeom>
            <a:avLst/>
            <a:gdLst/>
            <a:ahLst/>
            <a:cxnLst/>
            <a:rect l="l" t="t" r="r" b="b"/>
            <a:pathLst>
              <a:path w="626181" h="626181">
                <a:moveTo>
                  <a:pt x="0" y="0"/>
                </a:moveTo>
                <a:lnTo>
                  <a:pt x="626180" y="0"/>
                </a:lnTo>
                <a:lnTo>
                  <a:pt x="626180" y="626181"/>
                </a:lnTo>
                <a:lnTo>
                  <a:pt x="0" y="6261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402884" y="1893231"/>
            <a:ext cx="513235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8C52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For CEOs &amp; HR Leaders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315214" y="1085850"/>
            <a:ext cx="2765478" cy="1687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0"/>
              </a:lnSpc>
            </a:pPr>
            <a:r>
              <a:rPr lang="en-US" sz="6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65%</a:t>
            </a:r>
          </a:p>
          <a:p>
            <a:pPr algn="ctr">
              <a:lnSpc>
                <a:spcPts val="6660"/>
              </a:lnSpc>
            </a:pPr>
            <a:endParaRPr lang="en-US" sz="6000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4507832" y="375808"/>
            <a:ext cx="2380243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SAVE UP TO</a:t>
            </a:r>
          </a:p>
          <a:p>
            <a:pPr algn="ctr">
              <a:lnSpc>
                <a:spcPts val="3499"/>
              </a:lnSpc>
            </a:pPr>
            <a:endParaRPr lang="en-US" sz="2499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4136606" y="2058332"/>
            <a:ext cx="3122694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RECRUTIEMNT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136606" y="2317859"/>
            <a:ext cx="3122694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COST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09135" y="4363675"/>
            <a:ext cx="3676000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Cost </a:t>
            </a:r>
          </a:p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Optimization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46253" y="5549166"/>
            <a:ext cx="7034019" cy="523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5" lvl="1" indent="-161927" algn="l">
              <a:lnSpc>
                <a:spcPts val="2100"/>
              </a:lnSpc>
              <a:buFont typeface="Arial"/>
              <a:buChar char="•"/>
            </a:pPr>
            <a:r>
              <a:rPr lang="en-US" sz="1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Save up to 60% in recruitment</a:t>
            </a:r>
          </a:p>
          <a:p>
            <a:pPr marL="323855" lvl="1" indent="-161927" algn="l">
              <a:lnSpc>
                <a:spcPts val="2100"/>
              </a:lnSpc>
              <a:buFont typeface="Arial"/>
              <a:buChar char="•"/>
            </a:pPr>
            <a:r>
              <a:rPr lang="en-US" sz="1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Overhead Minimize interviewer hours with automation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729608" y="7206473"/>
            <a:ext cx="3676000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Time-to-Hire</a:t>
            </a:r>
          </a:p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Reduction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46253" y="8341217"/>
            <a:ext cx="7034019" cy="790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5" lvl="1" indent="-161927" algn="l">
              <a:lnSpc>
                <a:spcPts val="2100"/>
              </a:lnSpc>
              <a:buFont typeface="Arial"/>
              <a:buChar char="•"/>
            </a:pPr>
            <a:r>
              <a:rPr lang="en-US" sz="1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Instantly screen hundreds of candidates</a:t>
            </a:r>
          </a:p>
          <a:p>
            <a:pPr marL="323855" lvl="1" indent="-161927" algn="l">
              <a:lnSpc>
                <a:spcPts val="2100"/>
              </a:lnSpc>
              <a:buFont typeface="Arial"/>
              <a:buChar char="•"/>
            </a:pPr>
            <a:r>
              <a:rPr lang="en-US" sz="1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Shortlist only the top talent for final rounds</a:t>
            </a:r>
          </a:p>
          <a:p>
            <a:pPr algn="l">
              <a:lnSpc>
                <a:spcPts val="2100"/>
              </a:lnSpc>
            </a:pPr>
            <a:endParaRPr lang="en-US" sz="1500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387863" y="2632183"/>
            <a:ext cx="9720774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60"/>
              </a:lnSpc>
            </a:pPr>
            <a:r>
              <a:rPr lang="en-US" sz="6000" b="1" i="1">
                <a:solidFill>
                  <a:srgbClr val="F7F7F7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Optimization &amp; Reduction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5400000">
            <a:off x="8390489" y="4114337"/>
            <a:ext cx="7654370" cy="51135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48655" y="8024038"/>
            <a:ext cx="6122544" cy="3725174"/>
            <a:chOff x="0" y="0"/>
            <a:chExt cx="1612522" cy="9811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2522" cy="981116"/>
            </a:xfrm>
            <a:custGeom>
              <a:avLst/>
              <a:gdLst/>
              <a:ahLst/>
              <a:cxnLst/>
              <a:rect l="l" t="t" r="r" b="b"/>
              <a:pathLst>
                <a:path w="1612522" h="981116">
                  <a:moveTo>
                    <a:pt x="37935" y="0"/>
                  </a:moveTo>
                  <a:lnTo>
                    <a:pt x="1574587" y="0"/>
                  </a:lnTo>
                  <a:cubicBezTo>
                    <a:pt x="1595538" y="0"/>
                    <a:pt x="1612522" y="16984"/>
                    <a:pt x="1612522" y="37935"/>
                  </a:cubicBezTo>
                  <a:lnTo>
                    <a:pt x="1612522" y="943181"/>
                  </a:lnTo>
                  <a:cubicBezTo>
                    <a:pt x="1612522" y="953242"/>
                    <a:pt x="1608525" y="962891"/>
                    <a:pt x="1601411" y="970005"/>
                  </a:cubicBezTo>
                  <a:cubicBezTo>
                    <a:pt x="1594297" y="977119"/>
                    <a:pt x="1584648" y="981116"/>
                    <a:pt x="1574587" y="981116"/>
                  </a:cubicBezTo>
                  <a:lnTo>
                    <a:pt x="37935" y="981116"/>
                  </a:lnTo>
                  <a:cubicBezTo>
                    <a:pt x="27874" y="981116"/>
                    <a:pt x="18225" y="977119"/>
                    <a:pt x="11111" y="970005"/>
                  </a:cubicBezTo>
                  <a:cubicBezTo>
                    <a:pt x="3997" y="962891"/>
                    <a:pt x="0" y="953242"/>
                    <a:pt x="0" y="943181"/>
                  </a:cubicBezTo>
                  <a:lnTo>
                    <a:pt x="0" y="37935"/>
                  </a:lnTo>
                  <a:cubicBezTo>
                    <a:pt x="0" y="27874"/>
                    <a:pt x="3997" y="18225"/>
                    <a:pt x="11111" y="11111"/>
                  </a:cubicBezTo>
                  <a:cubicBezTo>
                    <a:pt x="18225" y="3997"/>
                    <a:pt x="27874" y="0"/>
                    <a:pt x="379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12522" cy="10287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86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058378" y="4538747"/>
            <a:ext cx="6921335" cy="6921335"/>
          </a:xfrm>
          <a:custGeom>
            <a:avLst/>
            <a:gdLst/>
            <a:ahLst/>
            <a:cxnLst/>
            <a:rect l="l" t="t" r="r" b="b"/>
            <a:pathLst>
              <a:path w="6921335" h="6921335">
                <a:moveTo>
                  <a:pt x="0" y="0"/>
                </a:moveTo>
                <a:lnTo>
                  <a:pt x="6921335" y="0"/>
                </a:lnTo>
                <a:lnTo>
                  <a:pt x="6921335" y="6921335"/>
                </a:lnTo>
                <a:lnTo>
                  <a:pt x="0" y="6921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04342" y="8184405"/>
            <a:ext cx="2029236" cy="2008944"/>
          </a:xfrm>
          <a:custGeom>
            <a:avLst/>
            <a:gdLst/>
            <a:ahLst/>
            <a:cxnLst/>
            <a:rect l="l" t="t" r="r" b="b"/>
            <a:pathLst>
              <a:path w="2029236" h="2008944">
                <a:moveTo>
                  <a:pt x="0" y="0"/>
                </a:moveTo>
                <a:lnTo>
                  <a:pt x="2029236" y="0"/>
                </a:lnTo>
                <a:lnTo>
                  <a:pt x="2029236" y="2008944"/>
                </a:lnTo>
                <a:lnTo>
                  <a:pt x="0" y="20089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587868" y="394870"/>
            <a:ext cx="2408856" cy="633830"/>
          </a:xfrm>
          <a:custGeom>
            <a:avLst/>
            <a:gdLst/>
            <a:ahLst/>
            <a:cxnLst/>
            <a:rect l="l" t="t" r="r" b="b"/>
            <a:pathLst>
              <a:path w="2408856" h="633830">
                <a:moveTo>
                  <a:pt x="0" y="0"/>
                </a:moveTo>
                <a:lnTo>
                  <a:pt x="2408856" y="0"/>
                </a:lnTo>
                <a:lnTo>
                  <a:pt x="2408856" y="633830"/>
                </a:lnTo>
                <a:lnTo>
                  <a:pt x="0" y="6338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8601262" y="1478180"/>
            <a:ext cx="1085477" cy="1029455"/>
            <a:chOff x="0" y="0"/>
            <a:chExt cx="318389" cy="301879"/>
          </a:xfrm>
        </p:grpSpPr>
        <p:sp>
          <p:nvSpPr>
            <p:cNvPr id="9" name="Freeform 9"/>
            <p:cNvSpPr/>
            <p:nvPr/>
          </p:nvSpPr>
          <p:spPr>
            <a:xfrm>
              <a:off x="1587" y="0"/>
              <a:ext cx="315216" cy="301401"/>
            </a:xfrm>
            <a:custGeom>
              <a:avLst/>
              <a:gdLst/>
              <a:ahLst/>
              <a:cxnLst/>
              <a:rect l="l" t="t" r="r" b="b"/>
              <a:pathLst>
                <a:path w="315216" h="301401">
                  <a:moveTo>
                    <a:pt x="211336" y="9090"/>
                  </a:moveTo>
                  <a:lnTo>
                    <a:pt x="211619" y="9189"/>
                  </a:lnTo>
                  <a:cubicBezTo>
                    <a:pt x="228553" y="15140"/>
                    <a:pt x="244354" y="23923"/>
                    <a:pt x="258348" y="35163"/>
                  </a:cubicBezTo>
                  <a:lnTo>
                    <a:pt x="258392" y="35199"/>
                  </a:lnTo>
                  <a:cubicBezTo>
                    <a:pt x="272347" y="46409"/>
                    <a:pt x="284207" y="60003"/>
                    <a:pt x="293420" y="75350"/>
                  </a:cubicBezTo>
                  <a:lnTo>
                    <a:pt x="293711" y="75834"/>
                  </a:lnTo>
                  <a:cubicBezTo>
                    <a:pt x="302729" y="90856"/>
                    <a:pt x="308951" y="107387"/>
                    <a:pt x="312076" y="124627"/>
                  </a:cubicBezTo>
                  <a:lnTo>
                    <a:pt x="312076" y="124627"/>
                  </a:lnTo>
                  <a:cubicBezTo>
                    <a:pt x="315201" y="141870"/>
                    <a:pt x="315215" y="159533"/>
                    <a:pt x="312118" y="176781"/>
                  </a:cubicBezTo>
                  <a:lnTo>
                    <a:pt x="312076" y="177013"/>
                  </a:lnTo>
                  <a:cubicBezTo>
                    <a:pt x="308952" y="194406"/>
                    <a:pt x="302650" y="211074"/>
                    <a:pt x="293485" y="226183"/>
                  </a:cubicBezTo>
                  <a:lnTo>
                    <a:pt x="293420" y="226290"/>
                  </a:lnTo>
                  <a:cubicBezTo>
                    <a:pt x="284205" y="241482"/>
                    <a:pt x="272404" y="254946"/>
                    <a:pt x="258551" y="266074"/>
                  </a:cubicBezTo>
                  <a:lnTo>
                    <a:pt x="258348" y="266237"/>
                  </a:lnTo>
                  <a:cubicBezTo>
                    <a:pt x="244354" y="277478"/>
                    <a:pt x="228553" y="286261"/>
                    <a:pt x="211619" y="292211"/>
                  </a:cubicBezTo>
                  <a:lnTo>
                    <a:pt x="211336" y="292311"/>
                  </a:lnTo>
                  <a:cubicBezTo>
                    <a:pt x="194213" y="298327"/>
                    <a:pt x="176196" y="301401"/>
                    <a:pt x="158047" y="301401"/>
                  </a:cubicBezTo>
                  <a:lnTo>
                    <a:pt x="157168" y="301401"/>
                  </a:lnTo>
                  <a:cubicBezTo>
                    <a:pt x="139019" y="301401"/>
                    <a:pt x="121002" y="298327"/>
                    <a:pt x="103879" y="292311"/>
                  </a:cubicBezTo>
                  <a:lnTo>
                    <a:pt x="103596" y="292211"/>
                  </a:lnTo>
                  <a:cubicBezTo>
                    <a:pt x="86662" y="286261"/>
                    <a:pt x="70861" y="277478"/>
                    <a:pt x="56867" y="266237"/>
                  </a:cubicBezTo>
                  <a:lnTo>
                    <a:pt x="56664" y="266074"/>
                  </a:lnTo>
                  <a:cubicBezTo>
                    <a:pt x="42811" y="254946"/>
                    <a:pt x="31010" y="241482"/>
                    <a:pt x="21795" y="226290"/>
                  </a:cubicBezTo>
                  <a:lnTo>
                    <a:pt x="21730" y="226183"/>
                  </a:lnTo>
                  <a:cubicBezTo>
                    <a:pt x="12565" y="211074"/>
                    <a:pt x="6263" y="194406"/>
                    <a:pt x="3139" y="177013"/>
                  </a:cubicBezTo>
                  <a:lnTo>
                    <a:pt x="3097" y="176781"/>
                  </a:lnTo>
                  <a:cubicBezTo>
                    <a:pt x="0" y="159533"/>
                    <a:pt x="14" y="141870"/>
                    <a:pt x="3139" y="124627"/>
                  </a:cubicBezTo>
                  <a:lnTo>
                    <a:pt x="3139" y="124627"/>
                  </a:lnTo>
                  <a:cubicBezTo>
                    <a:pt x="6264" y="107387"/>
                    <a:pt x="12486" y="90856"/>
                    <a:pt x="21504" y="75834"/>
                  </a:cubicBezTo>
                  <a:lnTo>
                    <a:pt x="21795" y="75350"/>
                  </a:lnTo>
                  <a:cubicBezTo>
                    <a:pt x="31008" y="60003"/>
                    <a:pt x="42868" y="46409"/>
                    <a:pt x="56823" y="35199"/>
                  </a:cubicBezTo>
                  <a:lnTo>
                    <a:pt x="56867" y="35163"/>
                  </a:lnTo>
                  <a:cubicBezTo>
                    <a:pt x="70861" y="23923"/>
                    <a:pt x="86662" y="15140"/>
                    <a:pt x="103596" y="9189"/>
                  </a:cubicBezTo>
                  <a:lnTo>
                    <a:pt x="103879" y="9090"/>
                  </a:lnTo>
                  <a:cubicBezTo>
                    <a:pt x="121002" y="3073"/>
                    <a:pt x="139019" y="0"/>
                    <a:pt x="157168" y="0"/>
                  </a:cubicBezTo>
                  <a:lnTo>
                    <a:pt x="158047" y="0"/>
                  </a:lnTo>
                  <a:cubicBezTo>
                    <a:pt x="176196" y="0"/>
                    <a:pt x="194213" y="3073"/>
                    <a:pt x="211336" y="909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845" y="-3940"/>
              <a:ext cx="222699" cy="261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86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8947268" y="1860400"/>
            <a:ext cx="522000" cy="298015"/>
          </a:xfrm>
          <a:custGeom>
            <a:avLst/>
            <a:gdLst/>
            <a:ahLst/>
            <a:cxnLst/>
            <a:rect l="l" t="t" r="r" b="b"/>
            <a:pathLst>
              <a:path w="522000" h="298015">
                <a:moveTo>
                  <a:pt x="0" y="0"/>
                </a:moveTo>
                <a:lnTo>
                  <a:pt x="522000" y="0"/>
                </a:lnTo>
                <a:lnTo>
                  <a:pt x="522000" y="298014"/>
                </a:lnTo>
                <a:lnTo>
                  <a:pt x="0" y="2980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0543309" y="2860458"/>
            <a:ext cx="6636804" cy="47625"/>
          </a:xfrm>
          <a:custGeom>
            <a:avLst/>
            <a:gdLst/>
            <a:ahLst/>
            <a:cxnLst/>
            <a:rect l="l" t="t" r="r" b="b"/>
            <a:pathLst>
              <a:path w="6636804" h="47625">
                <a:moveTo>
                  <a:pt x="0" y="0"/>
                </a:moveTo>
                <a:lnTo>
                  <a:pt x="6636804" y="0"/>
                </a:lnTo>
                <a:lnTo>
                  <a:pt x="6636804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34437" t="-23460" r="-754" b="-37108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0391893" y="1896121"/>
            <a:ext cx="6788220" cy="61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547" lvl="1" indent="-194274" algn="l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Auto-schedule and auto-conduct interviews</a:t>
            </a:r>
          </a:p>
          <a:p>
            <a:pPr marL="388547" lvl="1" indent="-194274" algn="l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Candidate responses recorded and analyzed in real 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27428" y="1450004"/>
            <a:ext cx="5589317" cy="28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0"/>
              </a:lnSpc>
            </a:pPr>
            <a:r>
              <a:rPr lang="en-US" sz="2000" b="1">
                <a:solidFill>
                  <a:srgbClr val="F7F7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 AI Video Interviews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537692" y="3489108"/>
            <a:ext cx="1106759" cy="1049639"/>
            <a:chOff x="0" y="0"/>
            <a:chExt cx="318389" cy="301879"/>
          </a:xfrm>
        </p:grpSpPr>
        <p:sp>
          <p:nvSpPr>
            <p:cNvPr id="16" name="Freeform 16"/>
            <p:cNvSpPr/>
            <p:nvPr/>
          </p:nvSpPr>
          <p:spPr>
            <a:xfrm>
              <a:off x="1587" y="0"/>
              <a:ext cx="315216" cy="301401"/>
            </a:xfrm>
            <a:custGeom>
              <a:avLst/>
              <a:gdLst/>
              <a:ahLst/>
              <a:cxnLst/>
              <a:rect l="l" t="t" r="r" b="b"/>
              <a:pathLst>
                <a:path w="315216" h="301401">
                  <a:moveTo>
                    <a:pt x="211336" y="9090"/>
                  </a:moveTo>
                  <a:lnTo>
                    <a:pt x="211619" y="9189"/>
                  </a:lnTo>
                  <a:cubicBezTo>
                    <a:pt x="228553" y="15140"/>
                    <a:pt x="244354" y="23923"/>
                    <a:pt x="258348" y="35163"/>
                  </a:cubicBezTo>
                  <a:lnTo>
                    <a:pt x="258392" y="35199"/>
                  </a:lnTo>
                  <a:cubicBezTo>
                    <a:pt x="272347" y="46409"/>
                    <a:pt x="284207" y="60003"/>
                    <a:pt x="293420" y="75350"/>
                  </a:cubicBezTo>
                  <a:lnTo>
                    <a:pt x="293711" y="75834"/>
                  </a:lnTo>
                  <a:cubicBezTo>
                    <a:pt x="302729" y="90856"/>
                    <a:pt x="308951" y="107387"/>
                    <a:pt x="312076" y="124627"/>
                  </a:cubicBezTo>
                  <a:lnTo>
                    <a:pt x="312076" y="124627"/>
                  </a:lnTo>
                  <a:cubicBezTo>
                    <a:pt x="315201" y="141870"/>
                    <a:pt x="315215" y="159533"/>
                    <a:pt x="312118" y="176781"/>
                  </a:cubicBezTo>
                  <a:lnTo>
                    <a:pt x="312076" y="177013"/>
                  </a:lnTo>
                  <a:cubicBezTo>
                    <a:pt x="308952" y="194406"/>
                    <a:pt x="302650" y="211074"/>
                    <a:pt x="293485" y="226183"/>
                  </a:cubicBezTo>
                  <a:lnTo>
                    <a:pt x="293420" y="226290"/>
                  </a:lnTo>
                  <a:cubicBezTo>
                    <a:pt x="284205" y="241482"/>
                    <a:pt x="272404" y="254946"/>
                    <a:pt x="258551" y="266074"/>
                  </a:cubicBezTo>
                  <a:lnTo>
                    <a:pt x="258348" y="266237"/>
                  </a:lnTo>
                  <a:cubicBezTo>
                    <a:pt x="244354" y="277478"/>
                    <a:pt x="228553" y="286261"/>
                    <a:pt x="211619" y="292211"/>
                  </a:cubicBezTo>
                  <a:lnTo>
                    <a:pt x="211336" y="292311"/>
                  </a:lnTo>
                  <a:cubicBezTo>
                    <a:pt x="194213" y="298327"/>
                    <a:pt x="176196" y="301401"/>
                    <a:pt x="158047" y="301401"/>
                  </a:cubicBezTo>
                  <a:lnTo>
                    <a:pt x="157168" y="301401"/>
                  </a:lnTo>
                  <a:cubicBezTo>
                    <a:pt x="139019" y="301401"/>
                    <a:pt x="121002" y="298327"/>
                    <a:pt x="103879" y="292311"/>
                  </a:cubicBezTo>
                  <a:lnTo>
                    <a:pt x="103596" y="292211"/>
                  </a:lnTo>
                  <a:cubicBezTo>
                    <a:pt x="86662" y="286261"/>
                    <a:pt x="70861" y="277478"/>
                    <a:pt x="56867" y="266237"/>
                  </a:cubicBezTo>
                  <a:lnTo>
                    <a:pt x="56664" y="266074"/>
                  </a:lnTo>
                  <a:cubicBezTo>
                    <a:pt x="42811" y="254946"/>
                    <a:pt x="31010" y="241482"/>
                    <a:pt x="21795" y="226290"/>
                  </a:cubicBezTo>
                  <a:lnTo>
                    <a:pt x="21730" y="226183"/>
                  </a:lnTo>
                  <a:cubicBezTo>
                    <a:pt x="12565" y="211074"/>
                    <a:pt x="6263" y="194406"/>
                    <a:pt x="3139" y="177013"/>
                  </a:cubicBezTo>
                  <a:lnTo>
                    <a:pt x="3097" y="176781"/>
                  </a:lnTo>
                  <a:cubicBezTo>
                    <a:pt x="0" y="159533"/>
                    <a:pt x="14" y="141870"/>
                    <a:pt x="3139" y="124627"/>
                  </a:cubicBezTo>
                  <a:lnTo>
                    <a:pt x="3139" y="124627"/>
                  </a:lnTo>
                  <a:cubicBezTo>
                    <a:pt x="6264" y="107387"/>
                    <a:pt x="12486" y="90856"/>
                    <a:pt x="21504" y="75834"/>
                  </a:cubicBezTo>
                  <a:lnTo>
                    <a:pt x="21795" y="75350"/>
                  </a:lnTo>
                  <a:cubicBezTo>
                    <a:pt x="31008" y="60003"/>
                    <a:pt x="42868" y="46409"/>
                    <a:pt x="56823" y="35199"/>
                  </a:cubicBezTo>
                  <a:lnTo>
                    <a:pt x="56867" y="35163"/>
                  </a:lnTo>
                  <a:cubicBezTo>
                    <a:pt x="70861" y="23923"/>
                    <a:pt x="86662" y="15140"/>
                    <a:pt x="103596" y="9189"/>
                  </a:cubicBezTo>
                  <a:lnTo>
                    <a:pt x="103879" y="9090"/>
                  </a:lnTo>
                  <a:cubicBezTo>
                    <a:pt x="121002" y="3073"/>
                    <a:pt x="139019" y="0"/>
                    <a:pt x="157168" y="0"/>
                  </a:cubicBezTo>
                  <a:lnTo>
                    <a:pt x="158047" y="0"/>
                  </a:lnTo>
                  <a:cubicBezTo>
                    <a:pt x="176196" y="0"/>
                    <a:pt x="194213" y="3073"/>
                    <a:pt x="211336" y="909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845" y="-3940"/>
              <a:ext cx="222699" cy="261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86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0622496" y="5143500"/>
            <a:ext cx="6636804" cy="47625"/>
          </a:xfrm>
          <a:custGeom>
            <a:avLst/>
            <a:gdLst/>
            <a:ahLst/>
            <a:cxnLst/>
            <a:rect l="l" t="t" r="r" b="b"/>
            <a:pathLst>
              <a:path w="6636804" h="47625">
                <a:moveTo>
                  <a:pt x="0" y="0"/>
                </a:moveTo>
                <a:lnTo>
                  <a:pt x="6636804" y="0"/>
                </a:lnTo>
                <a:lnTo>
                  <a:pt x="6636804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35325" t="-23460" r="-754" b="-37433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0391893" y="3944751"/>
            <a:ext cx="6472182" cy="61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547" lvl="1" indent="-194274" algn="l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Instantly ranks candidates based on job fit</a:t>
            </a:r>
          </a:p>
          <a:p>
            <a:pPr marL="388547" lvl="1" indent="-194274" algn="l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Eliminates manual resume screening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027428" y="3498633"/>
            <a:ext cx="5589317" cy="28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0"/>
              </a:lnSpc>
            </a:pPr>
            <a:r>
              <a:rPr lang="en-US" sz="2000" b="1">
                <a:solidFill>
                  <a:srgbClr val="F7F7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 Smart Resume Shortlisting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657181" y="5741199"/>
            <a:ext cx="1029557" cy="976421"/>
            <a:chOff x="0" y="0"/>
            <a:chExt cx="318389" cy="301879"/>
          </a:xfrm>
        </p:grpSpPr>
        <p:sp>
          <p:nvSpPr>
            <p:cNvPr id="22" name="Freeform 22"/>
            <p:cNvSpPr/>
            <p:nvPr/>
          </p:nvSpPr>
          <p:spPr>
            <a:xfrm>
              <a:off x="1587" y="0"/>
              <a:ext cx="315216" cy="301401"/>
            </a:xfrm>
            <a:custGeom>
              <a:avLst/>
              <a:gdLst/>
              <a:ahLst/>
              <a:cxnLst/>
              <a:rect l="l" t="t" r="r" b="b"/>
              <a:pathLst>
                <a:path w="315216" h="301401">
                  <a:moveTo>
                    <a:pt x="211336" y="9090"/>
                  </a:moveTo>
                  <a:lnTo>
                    <a:pt x="211619" y="9189"/>
                  </a:lnTo>
                  <a:cubicBezTo>
                    <a:pt x="228553" y="15140"/>
                    <a:pt x="244354" y="23923"/>
                    <a:pt x="258348" y="35163"/>
                  </a:cubicBezTo>
                  <a:lnTo>
                    <a:pt x="258392" y="35199"/>
                  </a:lnTo>
                  <a:cubicBezTo>
                    <a:pt x="272347" y="46409"/>
                    <a:pt x="284207" y="60003"/>
                    <a:pt x="293420" y="75350"/>
                  </a:cubicBezTo>
                  <a:lnTo>
                    <a:pt x="293711" y="75834"/>
                  </a:lnTo>
                  <a:cubicBezTo>
                    <a:pt x="302729" y="90856"/>
                    <a:pt x="308951" y="107387"/>
                    <a:pt x="312076" y="124627"/>
                  </a:cubicBezTo>
                  <a:lnTo>
                    <a:pt x="312076" y="124627"/>
                  </a:lnTo>
                  <a:cubicBezTo>
                    <a:pt x="315201" y="141870"/>
                    <a:pt x="315215" y="159533"/>
                    <a:pt x="312118" y="176781"/>
                  </a:cubicBezTo>
                  <a:lnTo>
                    <a:pt x="312076" y="177013"/>
                  </a:lnTo>
                  <a:cubicBezTo>
                    <a:pt x="308952" y="194406"/>
                    <a:pt x="302650" y="211074"/>
                    <a:pt x="293485" y="226183"/>
                  </a:cubicBezTo>
                  <a:lnTo>
                    <a:pt x="293420" y="226290"/>
                  </a:lnTo>
                  <a:cubicBezTo>
                    <a:pt x="284205" y="241482"/>
                    <a:pt x="272404" y="254946"/>
                    <a:pt x="258551" y="266074"/>
                  </a:cubicBezTo>
                  <a:lnTo>
                    <a:pt x="258348" y="266237"/>
                  </a:lnTo>
                  <a:cubicBezTo>
                    <a:pt x="244354" y="277478"/>
                    <a:pt x="228553" y="286261"/>
                    <a:pt x="211619" y="292211"/>
                  </a:cubicBezTo>
                  <a:lnTo>
                    <a:pt x="211336" y="292311"/>
                  </a:lnTo>
                  <a:cubicBezTo>
                    <a:pt x="194213" y="298327"/>
                    <a:pt x="176196" y="301401"/>
                    <a:pt x="158047" y="301401"/>
                  </a:cubicBezTo>
                  <a:lnTo>
                    <a:pt x="157168" y="301401"/>
                  </a:lnTo>
                  <a:cubicBezTo>
                    <a:pt x="139019" y="301401"/>
                    <a:pt x="121002" y="298327"/>
                    <a:pt x="103879" y="292311"/>
                  </a:cubicBezTo>
                  <a:lnTo>
                    <a:pt x="103596" y="292211"/>
                  </a:lnTo>
                  <a:cubicBezTo>
                    <a:pt x="86662" y="286261"/>
                    <a:pt x="70861" y="277478"/>
                    <a:pt x="56867" y="266237"/>
                  </a:cubicBezTo>
                  <a:lnTo>
                    <a:pt x="56664" y="266074"/>
                  </a:lnTo>
                  <a:cubicBezTo>
                    <a:pt x="42811" y="254946"/>
                    <a:pt x="31010" y="241482"/>
                    <a:pt x="21795" y="226290"/>
                  </a:cubicBezTo>
                  <a:lnTo>
                    <a:pt x="21730" y="226183"/>
                  </a:lnTo>
                  <a:cubicBezTo>
                    <a:pt x="12565" y="211074"/>
                    <a:pt x="6263" y="194406"/>
                    <a:pt x="3139" y="177013"/>
                  </a:cubicBezTo>
                  <a:lnTo>
                    <a:pt x="3097" y="176781"/>
                  </a:lnTo>
                  <a:cubicBezTo>
                    <a:pt x="0" y="159533"/>
                    <a:pt x="14" y="141870"/>
                    <a:pt x="3139" y="124627"/>
                  </a:cubicBezTo>
                  <a:lnTo>
                    <a:pt x="3139" y="124627"/>
                  </a:lnTo>
                  <a:cubicBezTo>
                    <a:pt x="6264" y="107387"/>
                    <a:pt x="12486" y="90856"/>
                    <a:pt x="21504" y="75834"/>
                  </a:cubicBezTo>
                  <a:lnTo>
                    <a:pt x="21795" y="75350"/>
                  </a:lnTo>
                  <a:cubicBezTo>
                    <a:pt x="31008" y="60003"/>
                    <a:pt x="42868" y="46409"/>
                    <a:pt x="56823" y="35199"/>
                  </a:cubicBezTo>
                  <a:lnTo>
                    <a:pt x="56867" y="35163"/>
                  </a:lnTo>
                  <a:cubicBezTo>
                    <a:pt x="70861" y="23923"/>
                    <a:pt x="86662" y="15140"/>
                    <a:pt x="103596" y="9189"/>
                  </a:cubicBezTo>
                  <a:lnTo>
                    <a:pt x="103879" y="9090"/>
                  </a:lnTo>
                  <a:cubicBezTo>
                    <a:pt x="121002" y="3073"/>
                    <a:pt x="139019" y="0"/>
                    <a:pt x="157168" y="0"/>
                  </a:cubicBezTo>
                  <a:lnTo>
                    <a:pt x="158047" y="0"/>
                  </a:lnTo>
                  <a:cubicBezTo>
                    <a:pt x="176196" y="0"/>
                    <a:pt x="194213" y="3073"/>
                    <a:pt x="211336" y="909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845" y="-3940"/>
              <a:ext cx="222699" cy="261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86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0622496" y="7070045"/>
            <a:ext cx="6636804" cy="47625"/>
          </a:xfrm>
          <a:custGeom>
            <a:avLst/>
            <a:gdLst/>
            <a:ahLst/>
            <a:cxnLst/>
            <a:rect l="l" t="t" r="r" b="b"/>
            <a:pathLst>
              <a:path w="6636804" h="47625">
                <a:moveTo>
                  <a:pt x="0" y="0"/>
                </a:moveTo>
                <a:lnTo>
                  <a:pt x="6636804" y="0"/>
                </a:lnTo>
                <a:lnTo>
                  <a:pt x="6636804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35325" t="-23460" r="-754" b="-37433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10391893" y="6106106"/>
            <a:ext cx="7594118" cy="61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547" lvl="1" indent="-194274" algn="l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Score candidates based on communication, confidence, and skills</a:t>
            </a:r>
          </a:p>
          <a:p>
            <a:pPr marL="388547" lvl="1" indent="-194274" algn="l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Visual scorecards and actionable insights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027428" y="5659989"/>
            <a:ext cx="5589317" cy="28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0"/>
              </a:lnSpc>
            </a:pPr>
            <a:r>
              <a:rPr lang="en-US" sz="2000" b="1">
                <a:solidFill>
                  <a:srgbClr val="F7F7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  AI Interview Scoring &amp; Feedback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8653303" y="7719033"/>
            <a:ext cx="981394" cy="930743"/>
            <a:chOff x="0" y="0"/>
            <a:chExt cx="318389" cy="301879"/>
          </a:xfrm>
        </p:grpSpPr>
        <p:sp>
          <p:nvSpPr>
            <p:cNvPr id="28" name="Freeform 28"/>
            <p:cNvSpPr/>
            <p:nvPr/>
          </p:nvSpPr>
          <p:spPr>
            <a:xfrm>
              <a:off x="1587" y="0"/>
              <a:ext cx="315216" cy="301401"/>
            </a:xfrm>
            <a:custGeom>
              <a:avLst/>
              <a:gdLst/>
              <a:ahLst/>
              <a:cxnLst/>
              <a:rect l="l" t="t" r="r" b="b"/>
              <a:pathLst>
                <a:path w="315216" h="301401">
                  <a:moveTo>
                    <a:pt x="211336" y="9090"/>
                  </a:moveTo>
                  <a:lnTo>
                    <a:pt x="211619" y="9189"/>
                  </a:lnTo>
                  <a:cubicBezTo>
                    <a:pt x="228553" y="15140"/>
                    <a:pt x="244354" y="23923"/>
                    <a:pt x="258348" y="35163"/>
                  </a:cubicBezTo>
                  <a:lnTo>
                    <a:pt x="258392" y="35199"/>
                  </a:lnTo>
                  <a:cubicBezTo>
                    <a:pt x="272347" y="46409"/>
                    <a:pt x="284207" y="60003"/>
                    <a:pt x="293420" y="75350"/>
                  </a:cubicBezTo>
                  <a:lnTo>
                    <a:pt x="293711" y="75834"/>
                  </a:lnTo>
                  <a:cubicBezTo>
                    <a:pt x="302729" y="90856"/>
                    <a:pt x="308951" y="107387"/>
                    <a:pt x="312076" y="124627"/>
                  </a:cubicBezTo>
                  <a:lnTo>
                    <a:pt x="312076" y="124627"/>
                  </a:lnTo>
                  <a:cubicBezTo>
                    <a:pt x="315201" y="141870"/>
                    <a:pt x="315215" y="159533"/>
                    <a:pt x="312118" y="176781"/>
                  </a:cubicBezTo>
                  <a:lnTo>
                    <a:pt x="312076" y="177013"/>
                  </a:lnTo>
                  <a:cubicBezTo>
                    <a:pt x="308952" y="194406"/>
                    <a:pt x="302650" y="211074"/>
                    <a:pt x="293485" y="226183"/>
                  </a:cubicBezTo>
                  <a:lnTo>
                    <a:pt x="293420" y="226290"/>
                  </a:lnTo>
                  <a:cubicBezTo>
                    <a:pt x="284205" y="241482"/>
                    <a:pt x="272404" y="254946"/>
                    <a:pt x="258551" y="266074"/>
                  </a:cubicBezTo>
                  <a:lnTo>
                    <a:pt x="258348" y="266237"/>
                  </a:lnTo>
                  <a:cubicBezTo>
                    <a:pt x="244354" y="277478"/>
                    <a:pt x="228553" y="286261"/>
                    <a:pt x="211619" y="292211"/>
                  </a:cubicBezTo>
                  <a:lnTo>
                    <a:pt x="211336" y="292311"/>
                  </a:lnTo>
                  <a:cubicBezTo>
                    <a:pt x="194213" y="298327"/>
                    <a:pt x="176196" y="301401"/>
                    <a:pt x="158047" y="301401"/>
                  </a:cubicBezTo>
                  <a:lnTo>
                    <a:pt x="157168" y="301401"/>
                  </a:lnTo>
                  <a:cubicBezTo>
                    <a:pt x="139019" y="301401"/>
                    <a:pt x="121002" y="298327"/>
                    <a:pt x="103879" y="292311"/>
                  </a:cubicBezTo>
                  <a:lnTo>
                    <a:pt x="103596" y="292211"/>
                  </a:lnTo>
                  <a:cubicBezTo>
                    <a:pt x="86662" y="286261"/>
                    <a:pt x="70861" y="277478"/>
                    <a:pt x="56867" y="266237"/>
                  </a:cubicBezTo>
                  <a:lnTo>
                    <a:pt x="56664" y="266074"/>
                  </a:lnTo>
                  <a:cubicBezTo>
                    <a:pt x="42811" y="254946"/>
                    <a:pt x="31010" y="241482"/>
                    <a:pt x="21795" y="226290"/>
                  </a:cubicBezTo>
                  <a:lnTo>
                    <a:pt x="21730" y="226183"/>
                  </a:lnTo>
                  <a:cubicBezTo>
                    <a:pt x="12565" y="211074"/>
                    <a:pt x="6263" y="194406"/>
                    <a:pt x="3139" y="177013"/>
                  </a:cubicBezTo>
                  <a:lnTo>
                    <a:pt x="3097" y="176781"/>
                  </a:lnTo>
                  <a:cubicBezTo>
                    <a:pt x="0" y="159533"/>
                    <a:pt x="14" y="141870"/>
                    <a:pt x="3139" y="124627"/>
                  </a:cubicBezTo>
                  <a:lnTo>
                    <a:pt x="3139" y="124627"/>
                  </a:lnTo>
                  <a:cubicBezTo>
                    <a:pt x="6264" y="107387"/>
                    <a:pt x="12486" y="90856"/>
                    <a:pt x="21504" y="75834"/>
                  </a:cubicBezTo>
                  <a:lnTo>
                    <a:pt x="21795" y="75350"/>
                  </a:lnTo>
                  <a:cubicBezTo>
                    <a:pt x="31008" y="60003"/>
                    <a:pt x="42868" y="46409"/>
                    <a:pt x="56823" y="35199"/>
                  </a:cubicBezTo>
                  <a:lnTo>
                    <a:pt x="56867" y="35163"/>
                  </a:lnTo>
                  <a:cubicBezTo>
                    <a:pt x="70861" y="23923"/>
                    <a:pt x="86662" y="15140"/>
                    <a:pt x="103596" y="9189"/>
                  </a:cubicBezTo>
                  <a:lnTo>
                    <a:pt x="103879" y="9090"/>
                  </a:lnTo>
                  <a:cubicBezTo>
                    <a:pt x="121002" y="3073"/>
                    <a:pt x="139019" y="0"/>
                    <a:pt x="157168" y="0"/>
                  </a:cubicBezTo>
                  <a:lnTo>
                    <a:pt x="158047" y="0"/>
                  </a:lnTo>
                  <a:cubicBezTo>
                    <a:pt x="176196" y="0"/>
                    <a:pt x="194213" y="3073"/>
                    <a:pt x="211336" y="909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845" y="-3940"/>
              <a:ext cx="222699" cy="261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86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0391893" y="8155830"/>
            <a:ext cx="4860387" cy="61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547" lvl="1" indent="-194274" algn="l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Flags suspicious behavior</a:t>
            </a:r>
          </a:p>
          <a:p>
            <a:pPr marL="388547" lvl="1" indent="-194274" algn="l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Protects the integrity of the hiring process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027428" y="7709713"/>
            <a:ext cx="5589317" cy="28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0"/>
              </a:lnSpc>
            </a:pPr>
            <a:r>
              <a:rPr lang="en-US" sz="2000" b="1">
                <a:solidFill>
                  <a:srgbClr val="F7F7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 Fraud Detection Engine</a:t>
            </a:r>
          </a:p>
        </p:txBody>
      </p:sp>
      <p:sp>
        <p:nvSpPr>
          <p:cNvPr id="32" name="Freeform 32"/>
          <p:cNvSpPr/>
          <p:nvPr/>
        </p:nvSpPr>
        <p:spPr>
          <a:xfrm>
            <a:off x="8947268" y="3780075"/>
            <a:ext cx="345969" cy="484720"/>
          </a:xfrm>
          <a:custGeom>
            <a:avLst/>
            <a:gdLst/>
            <a:ahLst/>
            <a:cxnLst/>
            <a:rect l="l" t="t" r="r" b="b"/>
            <a:pathLst>
              <a:path w="345969" h="484720">
                <a:moveTo>
                  <a:pt x="0" y="0"/>
                </a:moveTo>
                <a:lnTo>
                  <a:pt x="345969" y="0"/>
                </a:lnTo>
                <a:lnTo>
                  <a:pt x="345969" y="484720"/>
                </a:lnTo>
                <a:lnTo>
                  <a:pt x="0" y="48472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1402884" y="2392251"/>
            <a:ext cx="4950197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60"/>
              </a:lnSpc>
            </a:pPr>
            <a:r>
              <a:rPr lang="en-US" sz="6000" b="1" i="1">
                <a:solidFill>
                  <a:srgbClr val="F7F7F7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Key Features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12617" y="1812775"/>
            <a:ext cx="296821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8C52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Features</a:t>
            </a:r>
          </a:p>
        </p:txBody>
      </p:sp>
      <p:sp>
        <p:nvSpPr>
          <p:cNvPr id="35" name="Freeform 35"/>
          <p:cNvSpPr/>
          <p:nvPr/>
        </p:nvSpPr>
        <p:spPr>
          <a:xfrm>
            <a:off x="8844619" y="5996161"/>
            <a:ext cx="551268" cy="429989"/>
          </a:xfrm>
          <a:custGeom>
            <a:avLst/>
            <a:gdLst/>
            <a:ahLst/>
            <a:cxnLst/>
            <a:rect l="l" t="t" r="r" b="b"/>
            <a:pathLst>
              <a:path w="551268" h="429989">
                <a:moveTo>
                  <a:pt x="0" y="0"/>
                </a:moveTo>
                <a:lnTo>
                  <a:pt x="551268" y="0"/>
                </a:lnTo>
                <a:lnTo>
                  <a:pt x="551268" y="429990"/>
                </a:lnTo>
                <a:lnTo>
                  <a:pt x="0" y="42999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8911270" y="8024038"/>
            <a:ext cx="441670" cy="451837"/>
          </a:xfrm>
          <a:custGeom>
            <a:avLst/>
            <a:gdLst/>
            <a:ahLst/>
            <a:cxnLst/>
            <a:rect l="l" t="t" r="r" b="b"/>
            <a:pathLst>
              <a:path w="441670" h="451837">
                <a:moveTo>
                  <a:pt x="0" y="0"/>
                </a:moveTo>
                <a:lnTo>
                  <a:pt x="441671" y="0"/>
                </a:lnTo>
                <a:lnTo>
                  <a:pt x="441671" y="451836"/>
                </a:lnTo>
                <a:lnTo>
                  <a:pt x="0" y="45183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8DFE5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144115" y="-2019341"/>
            <a:ext cx="5540584" cy="5540584"/>
          </a:xfrm>
          <a:custGeom>
            <a:avLst/>
            <a:gdLst/>
            <a:ahLst/>
            <a:cxnLst/>
            <a:rect l="l" t="t" r="r" b="b"/>
            <a:pathLst>
              <a:path w="5540584" h="5540584">
                <a:moveTo>
                  <a:pt x="0" y="0"/>
                </a:moveTo>
                <a:lnTo>
                  <a:pt x="5540584" y="0"/>
                </a:lnTo>
                <a:lnTo>
                  <a:pt x="5540584" y="5540584"/>
                </a:lnTo>
                <a:lnTo>
                  <a:pt x="0" y="5540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810385" y="3778614"/>
            <a:ext cx="15878316" cy="6012469"/>
            <a:chOff x="0" y="0"/>
            <a:chExt cx="4181943" cy="15835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81943" cy="1583531"/>
            </a:xfrm>
            <a:custGeom>
              <a:avLst/>
              <a:gdLst/>
              <a:ahLst/>
              <a:cxnLst/>
              <a:rect l="l" t="t" r="r" b="b"/>
              <a:pathLst>
                <a:path w="4181943" h="1583531">
                  <a:moveTo>
                    <a:pt x="14627" y="0"/>
                  </a:moveTo>
                  <a:lnTo>
                    <a:pt x="4167316" y="0"/>
                  </a:lnTo>
                  <a:cubicBezTo>
                    <a:pt x="4171195" y="0"/>
                    <a:pt x="4174916" y="1541"/>
                    <a:pt x="4177659" y="4284"/>
                  </a:cubicBezTo>
                  <a:cubicBezTo>
                    <a:pt x="4180402" y="7027"/>
                    <a:pt x="4181943" y="10748"/>
                    <a:pt x="4181943" y="14627"/>
                  </a:cubicBezTo>
                  <a:lnTo>
                    <a:pt x="4181943" y="1568904"/>
                  </a:lnTo>
                  <a:cubicBezTo>
                    <a:pt x="4181943" y="1572783"/>
                    <a:pt x="4180402" y="1576503"/>
                    <a:pt x="4177659" y="1579247"/>
                  </a:cubicBezTo>
                  <a:cubicBezTo>
                    <a:pt x="4174916" y="1581990"/>
                    <a:pt x="4171195" y="1583531"/>
                    <a:pt x="4167316" y="1583531"/>
                  </a:cubicBezTo>
                  <a:lnTo>
                    <a:pt x="14627" y="1583531"/>
                  </a:lnTo>
                  <a:cubicBezTo>
                    <a:pt x="10748" y="1583531"/>
                    <a:pt x="7027" y="1581990"/>
                    <a:pt x="4284" y="1579247"/>
                  </a:cubicBezTo>
                  <a:cubicBezTo>
                    <a:pt x="1541" y="1576503"/>
                    <a:pt x="0" y="1572783"/>
                    <a:pt x="0" y="1568904"/>
                  </a:cubicBezTo>
                  <a:lnTo>
                    <a:pt x="0" y="14627"/>
                  </a:lnTo>
                  <a:cubicBezTo>
                    <a:pt x="0" y="10748"/>
                    <a:pt x="1541" y="7027"/>
                    <a:pt x="4284" y="4284"/>
                  </a:cubicBezTo>
                  <a:cubicBezTo>
                    <a:pt x="7027" y="1541"/>
                    <a:pt x="10748" y="0"/>
                    <a:pt x="1462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181943" cy="1631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8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3049382" y="6903755"/>
            <a:ext cx="6566626" cy="6566626"/>
          </a:xfrm>
          <a:custGeom>
            <a:avLst/>
            <a:gdLst/>
            <a:ahLst/>
            <a:cxnLst/>
            <a:rect l="l" t="t" r="r" b="b"/>
            <a:pathLst>
              <a:path w="6566626" h="6566626">
                <a:moveTo>
                  <a:pt x="0" y="0"/>
                </a:moveTo>
                <a:lnTo>
                  <a:pt x="6566627" y="0"/>
                </a:lnTo>
                <a:lnTo>
                  <a:pt x="6566627" y="6566627"/>
                </a:lnTo>
                <a:lnTo>
                  <a:pt x="0" y="65666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28700" y="429044"/>
            <a:ext cx="2446798" cy="643814"/>
          </a:xfrm>
          <a:custGeom>
            <a:avLst/>
            <a:gdLst/>
            <a:ahLst/>
            <a:cxnLst/>
            <a:rect l="l" t="t" r="r" b="b"/>
            <a:pathLst>
              <a:path w="2446798" h="643814">
                <a:moveTo>
                  <a:pt x="0" y="0"/>
                </a:moveTo>
                <a:lnTo>
                  <a:pt x="2446798" y="0"/>
                </a:lnTo>
                <a:lnTo>
                  <a:pt x="2446798" y="643814"/>
                </a:lnTo>
                <a:lnTo>
                  <a:pt x="0" y="6438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2992005" y="4523247"/>
            <a:ext cx="8531628" cy="4735053"/>
          </a:xfrm>
          <a:custGeom>
            <a:avLst/>
            <a:gdLst/>
            <a:ahLst/>
            <a:cxnLst/>
            <a:rect l="l" t="t" r="r" b="b"/>
            <a:pathLst>
              <a:path w="8531628" h="4735053">
                <a:moveTo>
                  <a:pt x="0" y="0"/>
                </a:moveTo>
                <a:lnTo>
                  <a:pt x="8531628" y="0"/>
                </a:lnTo>
                <a:lnTo>
                  <a:pt x="8531628" y="4735053"/>
                </a:lnTo>
                <a:lnTo>
                  <a:pt x="0" y="47350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3270515" y="5434140"/>
            <a:ext cx="4328202" cy="2883665"/>
          </a:xfrm>
          <a:custGeom>
            <a:avLst/>
            <a:gdLst/>
            <a:ahLst/>
            <a:cxnLst/>
            <a:rect l="l" t="t" r="r" b="b"/>
            <a:pathLst>
              <a:path w="4328202" h="2883665">
                <a:moveTo>
                  <a:pt x="0" y="0"/>
                </a:moveTo>
                <a:lnTo>
                  <a:pt x="4328202" y="0"/>
                </a:lnTo>
                <a:lnTo>
                  <a:pt x="4328202" y="2883665"/>
                </a:lnTo>
                <a:lnTo>
                  <a:pt x="0" y="28836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2025620" y="1833413"/>
            <a:ext cx="15445221" cy="1687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60"/>
              </a:lnSpc>
            </a:pPr>
            <a:r>
              <a:rPr lang="en-US" sz="6000" b="1">
                <a:solidFill>
                  <a:srgbClr val="01206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Real-Time AI Interview Recording – No Human Panel Needed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25620" y="1316084"/>
            <a:ext cx="393099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8C52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Recording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63806" y="6024979"/>
            <a:ext cx="5050601" cy="1481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5" lvl="1" indent="-226697" algn="l">
              <a:lnSpc>
                <a:spcPts val="2331"/>
              </a:lnSpc>
              <a:buFont typeface="Arial"/>
              <a:buChar char="•"/>
            </a:pPr>
            <a:r>
              <a:rPr lang="en-US" sz="2100">
                <a:solidFill>
                  <a:srgbClr val="F7F7F7">
                    <a:alpha val="5568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Live Question &amp; Answer FlowSkill Breakdown</a:t>
            </a:r>
          </a:p>
          <a:p>
            <a:pPr marL="453395" lvl="1" indent="-226697" algn="l">
              <a:lnSpc>
                <a:spcPts val="2331"/>
              </a:lnSpc>
              <a:buFont typeface="Arial"/>
              <a:buChar char="•"/>
            </a:pPr>
            <a:r>
              <a:rPr lang="en-US" sz="2100">
                <a:solidFill>
                  <a:srgbClr val="F7F7F7">
                    <a:alpha val="5568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Natural-Language ConversationVideo Recording Panel</a:t>
            </a:r>
          </a:p>
          <a:p>
            <a:pPr marL="453395" lvl="1" indent="-226697" algn="l">
              <a:lnSpc>
                <a:spcPts val="2331"/>
              </a:lnSpc>
              <a:buFont typeface="Arial"/>
              <a:buChar char="•"/>
            </a:pPr>
            <a:r>
              <a:rPr lang="en-US" sz="2100">
                <a:solidFill>
                  <a:srgbClr val="F7F7F7">
                    <a:alpha val="5568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Instant Response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8DFE5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144115" y="-2019341"/>
            <a:ext cx="5540584" cy="5540584"/>
          </a:xfrm>
          <a:custGeom>
            <a:avLst/>
            <a:gdLst/>
            <a:ahLst/>
            <a:cxnLst/>
            <a:rect l="l" t="t" r="r" b="b"/>
            <a:pathLst>
              <a:path w="5540584" h="5540584">
                <a:moveTo>
                  <a:pt x="0" y="0"/>
                </a:moveTo>
                <a:lnTo>
                  <a:pt x="5540584" y="0"/>
                </a:lnTo>
                <a:lnTo>
                  <a:pt x="5540584" y="5540584"/>
                </a:lnTo>
                <a:lnTo>
                  <a:pt x="0" y="5540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810385" y="3778614"/>
            <a:ext cx="15878316" cy="6012469"/>
            <a:chOff x="0" y="0"/>
            <a:chExt cx="4181943" cy="15835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81943" cy="1583531"/>
            </a:xfrm>
            <a:custGeom>
              <a:avLst/>
              <a:gdLst/>
              <a:ahLst/>
              <a:cxnLst/>
              <a:rect l="l" t="t" r="r" b="b"/>
              <a:pathLst>
                <a:path w="4181943" h="1583531">
                  <a:moveTo>
                    <a:pt x="14627" y="0"/>
                  </a:moveTo>
                  <a:lnTo>
                    <a:pt x="4167316" y="0"/>
                  </a:lnTo>
                  <a:cubicBezTo>
                    <a:pt x="4171195" y="0"/>
                    <a:pt x="4174916" y="1541"/>
                    <a:pt x="4177659" y="4284"/>
                  </a:cubicBezTo>
                  <a:cubicBezTo>
                    <a:pt x="4180402" y="7027"/>
                    <a:pt x="4181943" y="10748"/>
                    <a:pt x="4181943" y="14627"/>
                  </a:cubicBezTo>
                  <a:lnTo>
                    <a:pt x="4181943" y="1568904"/>
                  </a:lnTo>
                  <a:cubicBezTo>
                    <a:pt x="4181943" y="1572783"/>
                    <a:pt x="4180402" y="1576503"/>
                    <a:pt x="4177659" y="1579247"/>
                  </a:cubicBezTo>
                  <a:cubicBezTo>
                    <a:pt x="4174916" y="1581990"/>
                    <a:pt x="4171195" y="1583531"/>
                    <a:pt x="4167316" y="1583531"/>
                  </a:cubicBezTo>
                  <a:lnTo>
                    <a:pt x="14627" y="1583531"/>
                  </a:lnTo>
                  <a:cubicBezTo>
                    <a:pt x="10748" y="1583531"/>
                    <a:pt x="7027" y="1581990"/>
                    <a:pt x="4284" y="1579247"/>
                  </a:cubicBezTo>
                  <a:cubicBezTo>
                    <a:pt x="1541" y="1576503"/>
                    <a:pt x="0" y="1572783"/>
                    <a:pt x="0" y="1568904"/>
                  </a:cubicBezTo>
                  <a:lnTo>
                    <a:pt x="0" y="14627"/>
                  </a:lnTo>
                  <a:cubicBezTo>
                    <a:pt x="0" y="10748"/>
                    <a:pt x="1541" y="7027"/>
                    <a:pt x="4284" y="4284"/>
                  </a:cubicBezTo>
                  <a:cubicBezTo>
                    <a:pt x="7027" y="1541"/>
                    <a:pt x="10748" y="0"/>
                    <a:pt x="1462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181943" cy="1631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8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3049382" y="6903755"/>
            <a:ext cx="6566626" cy="6566626"/>
          </a:xfrm>
          <a:custGeom>
            <a:avLst/>
            <a:gdLst/>
            <a:ahLst/>
            <a:cxnLst/>
            <a:rect l="l" t="t" r="r" b="b"/>
            <a:pathLst>
              <a:path w="6566626" h="6566626">
                <a:moveTo>
                  <a:pt x="0" y="0"/>
                </a:moveTo>
                <a:lnTo>
                  <a:pt x="6566627" y="0"/>
                </a:lnTo>
                <a:lnTo>
                  <a:pt x="6566627" y="6566627"/>
                </a:lnTo>
                <a:lnTo>
                  <a:pt x="0" y="65666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561269" y="4077182"/>
            <a:ext cx="10028395" cy="5415333"/>
          </a:xfrm>
          <a:custGeom>
            <a:avLst/>
            <a:gdLst/>
            <a:ahLst/>
            <a:cxnLst/>
            <a:rect l="l" t="t" r="r" b="b"/>
            <a:pathLst>
              <a:path w="10028395" h="5415333">
                <a:moveTo>
                  <a:pt x="0" y="0"/>
                </a:moveTo>
                <a:lnTo>
                  <a:pt x="10028395" y="0"/>
                </a:lnTo>
                <a:lnTo>
                  <a:pt x="10028395" y="5415333"/>
                </a:lnTo>
                <a:lnTo>
                  <a:pt x="0" y="54153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cap="rnd">
            <a:noFill/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28700" y="429044"/>
            <a:ext cx="2446798" cy="643814"/>
          </a:xfrm>
          <a:custGeom>
            <a:avLst/>
            <a:gdLst/>
            <a:ahLst/>
            <a:cxnLst/>
            <a:rect l="l" t="t" r="r" b="b"/>
            <a:pathLst>
              <a:path w="2446798" h="643814">
                <a:moveTo>
                  <a:pt x="0" y="0"/>
                </a:moveTo>
                <a:lnTo>
                  <a:pt x="2446798" y="0"/>
                </a:lnTo>
                <a:lnTo>
                  <a:pt x="2446798" y="643814"/>
                </a:lnTo>
                <a:lnTo>
                  <a:pt x="0" y="6438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7228817" y="7858977"/>
            <a:ext cx="970219" cy="970219"/>
          </a:xfrm>
          <a:custGeom>
            <a:avLst/>
            <a:gdLst/>
            <a:ahLst/>
            <a:cxnLst/>
            <a:rect l="l" t="t" r="r" b="b"/>
            <a:pathLst>
              <a:path w="970219" h="970219">
                <a:moveTo>
                  <a:pt x="0" y="0"/>
                </a:moveTo>
                <a:lnTo>
                  <a:pt x="970219" y="0"/>
                </a:lnTo>
                <a:lnTo>
                  <a:pt x="970219" y="970219"/>
                </a:lnTo>
                <a:lnTo>
                  <a:pt x="0" y="9702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2025620" y="2029496"/>
            <a:ext cx="15445221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60"/>
              </a:lnSpc>
            </a:pPr>
            <a:r>
              <a:rPr lang="en-US" sz="6000" b="1">
                <a:solidFill>
                  <a:srgbClr val="01206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AI-Powered Interview Summary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25620" y="1316084"/>
            <a:ext cx="393099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8C52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Summary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10223" y="6053709"/>
            <a:ext cx="4560617" cy="1481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5" lvl="1" indent="-226697" algn="l">
              <a:lnSpc>
                <a:spcPts val="2331"/>
              </a:lnSpc>
              <a:buFont typeface="Arial"/>
              <a:buChar char="•"/>
            </a:pPr>
            <a:r>
              <a:rPr lang="en-US" sz="2100">
                <a:solidFill>
                  <a:srgbClr val="F7F7F7">
                    <a:alpha val="5568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Candidate Profile Insights</a:t>
            </a:r>
          </a:p>
          <a:p>
            <a:pPr marL="453395" lvl="1" indent="-226697" algn="l">
              <a:lnSpc>
                <a:spcPts val="2331"/>
              </a:lnSpc>
              <a:buFont typeface="Arial"/>
              <a:buChar char="•"/>
            </a:pPr>
            <a:r>
              <a:rPr lang="en-US" sz="2100">
                <a:solidFill>
                  <a:srgbClr val="F7F7F7">
                    <a:alpha val="5568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Skill Breakdown</a:t>
            </a:r>
          </a:p>
          <a:p>
            <a:pPr marL="453395" lvl="1" indent="-226697" algn="l">
              <a:lnSpc>
                <a:spcPts val="2331"/>
              </a:lnSpc>
              <a:buFont typeface="Arial"/>
              <a:buChar char="•"/>
            </a:pPr>
            <a:r>
              <a:rPr lang="en-US" sz="2100">
                <a:solidFill>
                  <a:srgbClr val="F7F7F7">
                    <a:alpha val="5568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AI Final Assessment Summary</a:t>
            </a:r>
          </a:p>
          <a:p>
            <a:pPr marL="453395" lvl="1" indent="-226697" algn="l">
              <a:lnSpc>
                <a:spcPts val="2331"/>
              </a:lnSpc>
              <a:buFont typeface="Arial"/>
              <a:buChar char="•"/>
            </a:pPr>
            <a:r>
              <a:rPr lang="en-US" sz="2100">
                <a:solidFill>
                  <a:srgbClr val="F7F7F7">
                    <a:alpha val="5568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Video Recording Panel</a:t>
            </a:r>
          </a:p>
          <a:p>
            <a:pPr marL="453395" lvl="1" indent="-226697" algn="l">
              <a:lnSpc>
                <a:spcPts val="2331"/>
              </a:lnSpc>
              <a:buFont typeface="Arial"/>
              <a:buChar char="•"/>
            </a:pPr>
            <a:r>
              <a:rPr lang="en-US" sz="2100">
                <a:solidFill>
                  <a:srgbClr val="F7F7F7">
                    <a:alpha val="5568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Interactive Transcript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66200" y="8735148"/>
            <a:ext cx="5171251" cy="5171251"/>
          </a:xfrm>
          <a:custGeom>
            <a:avLst/>
            <a:gdLst/>
            <a:ahLst/>
            <a:cxnLst/>
            <a:rect l="l" t="t" r="r" b="b"/>
            <a:pathLst>
              <a:path w="5171251" h="5171251">
                <a:moveTo>
                  <a:pt x="0" y="0"/>
                </a:moveTo>
                <a:lnTo>
                  <a:pt x="5171251" y="0"/>
                </a:lnTo>
                <a:lnTo>
                  <a:pt x="5171251" y="5171251"/>
                </a:lnTo>
                <a:lnTo>
                  <a:pt x="0" y="5171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986171" y="7124030"/>
            <a:ext cx="6921335" cy="6921335"/>
          </a:xfrm>
          <a:custGeom>
            <a:avLst/>
            <a:gdLst/>
            <a:ahLst/>
            <a:cxnLst/>
            <a:rect l="l" t="t" r="r" b="b"/>
            <a:pathLst>
              <a:path w="6921335" h="6921335">
                <a:moveTo>
                  <a:pt x="0" y="0"/>
                </a:moveTo>
                <a:lnTo>
                  <a:pt x="6921335" y="0"/>
                </a:lnTo>
                <a:lnTo>
                  <a:pt x="6921335" y="6921335"/>
                </a:lnTo>
                <a:lnTo>
                  <a:pt x="0" y="6921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19426" y="569568"/>
            <a:ext cx="2408856" cy="633830"/>
          </a:xfrm>
          <a:custGeom>
            <a:avLst/>
            <a:gdLst/>
            <a:ahLst/>
            <a:cxnLst/>
            <a:rect l="l" t="t" r="r" b="b"/>
            <a:pathLst>
              <a:path w="2408856" h="633830">
                <a:moveTo>
                  <a:pt x="0" y="0"/>
                </a:moveTo>
                <a:lnTo>
                  <a:pt x="2408855" y="0"/>
                </a:lnTo>
                <a:lnTo>
                  <a:pt x="2408855" y="633830"/>
                </a:lnTo>
                <a:lnTo>
                  <a:pt x="0" y="6338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402884" y="3914416"/>
            <a:ext cx="6012084" cy="1229084"/>
            <a:chOff x="0" y="0"/>
            <a:chExt cx="8016112" cy="1638778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8016112" cy="1638778"/>
              <a:chOff x="0" y="0"/>
              <a:chExt cx="2370618" cy="48463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370618" cy="484639"/>
              </a:xfrm>
              <a:custGeom>
                <a:avLst/>
                <a:gdLst/>
                <a:ahLst/>
                <a:cxnLst/>
                <a:rect l="l" t="t" r="r" b="b"/>
                <a:pathLst>
                  <a:path w="2370618" h="484639">
                    <a:moveTo>
                      <a:pt x="25804" y="0"/>
                    </a:moveTo>
                    <a:lnTo>
                      <a:pt x="2344814" y="0"/>
                    </a:lnTo>
                    <a:cubicBezTo>
                      <a:pt x="2351658" y="0"/>
                      <a:pt x="2358221" y="2719"/>
                      <a:pt x="2363060" y="7558"/>
                    </a:cubicBezTo>
                    <a:cubicBezTo>
                      <a:pt x="2367899" y="12397"/>
                      <a:pt x="2370618" y="18960"/>
                      <a:pt x="2370618" y="25804"/>
                    </a:cubicBezTo>
                    <a:lnTo>
                      <a:pt x="2370618" y="458835"/>
                    </a:lnTo>
                    <a:cubicBezTo>
                      <a:pt x="2370618" y="473086"/>
                      <a:pt x="2359065" y="484639"/>
                      <a:pt x="2344814" y="484639"/>
                    </a:cubicBezTo>
                    <a:lnTo>
                      <a:pt x="25804" y="484639"/>
                    </a:lnTo>
                    <a:cubicBezTo>
                      <a:pt x="18960" y="484639"/>
                      <a:pt x="12397" y="481920"/>
                      <a:pt x="7558" y="477081"/>
                    </a:cubicBezTo>
                    <a:cubicBezTo>
                      <a:pt x="2719" y="472242"/>
                      <a:pt x="0" y="465679"/>
                      <a:pt x="0" y="458835"/>
                    </a:cubicBezTo>
                    <a:lnTo>
                      <a:pt x="0" y="25804"/>
                    </a:lnTo>
                    <a:cubicBezTo>
                      <a:pt x="0" y="18960"/>
                      <a:pt x="2719" y="12397"/>
                      <a:pt x="7558" y="7558"/>
                    </a:cubicBezTo>
                    <a:cubicBezTo>
                      <a:pt x="12397" y="2719"/>
                      <a:pt x="18960" y="0"/>
                      <a:pt x="2580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CB6CE6">
                      <a:alpha val="100000"/>
                    </a:srgbClr>
                  </a:gs>
                </a:gsLst>
                <a:lin ang="270000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0"/>
                <a:ext cx="2370618" cy="4846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86"/>
                  </a:lnSpc>
                </a:pPr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230551" y="228625"/>
              <a:ext cx="697104" cy="697104"/>
            </a:xfrm>
            <a:custGeom>
              <a:avLst/>
              <a:gdLst/>
              <a:ahLst/>
              <a:cxnLst/>
              <a:rect l="l" t="t" r="r" b="b"/>
              <a:pathLst>
                <a:path w="697104" h="697104">
                  <a:moveTo>
                    <a:pt x="0" y="0"/>
                  </a:moveTo>
                  <a:lnTo>
                    <a:pt x="697105" y="0"/>
                  </a:lnTo>
                  <a:lnTo>
                    <a:pt x="697105" y="697104"/>
                  </a:lnTo>
                  <a:lnTo>
                    <a:pt x="0" y="697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6319525" y="345211"/>
              <a:ext cx="1245459" cy="231967"/>
            </a:xfrm>
            <a:custGeom>
              <a:avLst/>
              <a:gdLst/>
              <a:ahLst/>
              <a:cxnLst/>
              <a:rect l="l" t="t" r="r" b="b"/>
              <a:pathLst>
                <a:path w="1245459" h="231967">
                  <a:moveTo>
                    <a:pt x="0" y="0"/>
                  </a:moveTo>
                  <a:lnTo>
                    <a:pt x="1245458" y="0"/>
                  </a:lnTo>
                  <a:lnTo>
                    <a:pt x="1245458" y="231966"/>
                  </a:lnTo>
                  <a:lnTo>
                    <a:pt x="0" y="231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5566" y="205419"/>
              <a:ext cx="4469996" cy="3717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37"/>
                </a:lnSpc>
              </a:pPr>
              <a:r>
                <a:rPr lang="en-US" sz="166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Jessica Moore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25566" y="931577"/>
              <a:ext cx="6439418" cy="7072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02"/>
                </a:lnSpc>
              </a:pPr>
              <a:r>
                <a:rPr lang="en-US" sz="1001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"Hiring has never been this smooth! With AI automation, we now find top talent faster than ever. Truly effortless and efficient."</a:t>
              </a:r>
            </a:p>
            <a:p>
              <a:pPr algn="l">
                <a:lnSpc>
                  <a:spcPts val="1402"/>
                </a:lnSpc>
              </a:pPr>
              <a:endParaRPr lang="en-US" sz="100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25566" y="613740"/>
              <a:ext cx="2478772" cy="2321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02"/>
                </a:lnSpc>
              </a:pPr>
              <a:r>
                <a:rPr lang="en-US" sz="1001" b="1">
                  <a:solidFill>
                    <a:srgbClr val="C7BEC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Head of Talent, New York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56032" y="5971816"/>
            <a:ext cx="6012084" cy="1585363"/>
            <a:chOff x="0" y="0"/>
            <a:chExt cx="8016112" cy="2113817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8016112" cy="2113817"/>
              <a:chOff x="0" y="0"/>
              <a:chExt cx="2370618" cy="62512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370618" cy="625123"/>
              </a:xfrm>
              <a:custGeom>
                <a:avLst/>
                <a:gdLst/>
                <a:ahLst/>
                <a:cxnLst/>
                <a:rect l="l" t="t" r="r" b="b"/>
                <a:pathLst>
                  <a:path w="2370618" h="625123">
                    <a:moveTo>
                      <a:pt x="25804" y="0"/>
                    </a:moveTo>
                    <a:lnTo>
                      <a:pt x="2344814" y="0"/>
                    </a:lnTo>
                    <a:cubicBezTo>
                      <a:pt x="2351658" y="0"/>
                      <a:pt x="2358221" y="2719"/>
                      <a:pt x="2363060" y="7558"/>
                    </a:cubicBezTo>
                    <a:cubicBezTo>
                      <a:pt x="2367899" y="12397"/>
                      <a:pt x="2370618" y="18960"/>
                      <a:pt x="2370618" y="25804"/>
                    </a:cubicBezTo>
                    <a:lnTo>
                      <a:pt x="2370618" y="599319"/>
                    </a:lnTo>
                    <a:cubicBezTo>
                      <a:pt x="2370618" y="613570"/>
                      <a:pt x="2359065" y="625123"/>
                      <a:pt x="2344814" y="625123"/>
                    </a:cubicBezTo>
                    <a:lnTo>
                      <a:pt x="25804" y="625123"/>
                    </a:lnTo>
                    <a:cubicBezTo>
                      <a:pt x="18960" y="625123"/>
                      <a:pt x="12397" y="622404"/>
                      <a:pt x="7558" y="617565"/>
                    </a:cubicBezTo>
                    <a:cubicBezTo>
                      <a:pt x="2719" y="612726"/>
                      <a:pt x="0" y="606162"/>
                      <a:pt x="0" y="599319"/>
                    </a:cubicBezTo>
                    <a:lnTo>
                      <a:pt x="0" y="25804"/>
                    </a:lnTo>
                    <a:cubicBezTo>
                      <a:pt x="0" y="18960"/>
                      <a:pt x="2719" y="12397"/>
                      <a:pt x="7558" y="7558"/>
                    </a:cubicBezTo>
                    <a:cubicBezTo>
                      <a:pt x="12397" y="2719"/>
                      <a:pt x="18960" y="0"/>
                      <a:pt x="2580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CB6CE6">
                      <a:alpha val="100000"/>
                    </a:srgbClr>
                  </a:gs>
                </a:gsLst>
                <a:lin ang="270000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0"/>
                <a:ext cx="2370618" cy="6251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86"/>
                  </a:lnSpc>
                </a:pPr>
                <a:endParaRPr/>
              </a:p>
            </p:txBody>
          </p:sp>
        </p:grpSp>
        <p:sp>
          <p:nvSpPr>
            <p:cNvPr id="18" name="Freeform 18"/>
            <p:cNvSpPr/>
            <p:nvPr/>
          </p:nvSpPr>
          <p:spPr>
            <a:xfrm>
              <a:off x="6319525" y="345211"/>
              <a:ext cx="1245459" cy="231967"/>
            </a:xfrm>
            <a:custGeom>
              <a:avLst/>
              <a:gdLst/>
              <a:ahLst/>
              <a:cxnLst/>
              <a:rect l="l" t="t" r="r" b="b"/>
              <a:pathLst>
                <a:path w="1245459" h="231967">
                  <a:moveTo>
                    <a:pt x="0" y="0"/>
                  </a:moveTo>
                  <a:lnTo>
                    <a:pt x="1245458" y="0"/>
                  </a:lnTo>
                  <a:lnTo>
                    <a:pt x="1245458" y="231966"/>
                  </a:lnTo>
                  <a:lnTo>
                    <a:pt x="0" y="231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25566" y="205419"/>
              <a:ext cx="4469996" cy="3717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37"/>
                </a:lnSpc>
              </a:pPr>
              <a:r>
                <a:rPr lang="en-US" sz="166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Siti Nurhaliza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25566" y="931577"/>
              <a:ext cx="6439418" cy="1182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02"/>
                </a:lnSpc>
              </a:pPr>
              <a:r>
                <a:rPr lang="en-US" sz="1001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"This tool transformed how we hire entire teams. With AI automation, we found top talent without breaking a sweat. It’s a complete game changer for our team."</a:t>
              </a:r>
            </a:p>
            <a:p>
              <a:pPr algn="l">
                <a:lnSpc>
                  <a:spcPts val="1402"/>
                </a:lnSpc>
              </a:pPr>
              <a:endParaRPr lang="en-US" sz="100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  <a:p>
              <a:pPr algn="l">
                <a:lnSpc>
                  <a:spcPts val="1402"/>
                </a:lnSpc>
              </a:pPr>
              <a:endParaRPr lang="en-US" sz="100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25566" y="613740"/>
              <a:ext cx="2478772" cy="2321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02"/>
                </a:lnSpc>
              </a:pPr>
              <a:r>
                <a:rPr lang="en-US" sz="1001" b="1">
                  <a:solidFill>
                    <a:srgbClr val="C7BEC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Talent Ops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56558" y="7672749"/>
            <a:ext cx="6012084" cy="1407223"/>
            <a:chOff x="0" y="0"/>
            <a:chExt cx="8016112" cy="1876298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8016112" cy="1876298"/>
              <a:chOff x="0" y="0"/>
              <a:chExt cx="2370618" cy="55488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370618" cy="554881"/>
              </a:xfrm>
              <a:custGeom>
                <a:avLst/>
                <a:gdLst/>
                <a:ahLst/>
                <a:cxnLst/>
                <a:rect l="l" t="t" r="r" b="b"/>
                <a:pathLst>
                  <a:path w="2370618" h="554881">
                    <a:moveTo>
                      <a:pt x="25804" y="0"/>
                    </a:moveTo>
                    <a:lnTo>
                      <a:pt x="2344814" y="0"/>
                    </a:lnTo>
                    <a:cubicBezTo>
                      <a:pt x="2351658" y="0"/>
                      <a:pt x="2358221" y="2719"/>
                      <a:pt x="2363060" y="7558"/>
                    </a:cubicBezTo>
                    <a:cubicBezTo>
                      <a:pt x="2367899" y="12397"/>
                      <a:pt x="2370618" y="18960"/>
                      <a:pt x="2370618" y="25804"/>
                    </a:cubicBezTo>
                    <a:lnTo>
                      <a:pt x="2370618" y="529077"/>
                    </a:lnTo>
                    <a:cubicBezTo>
                      <a:pt x="2370618" y="535920"/>
                      <a:pt x="2367899" y="542484"/>
                      <a:pt x="2363060" y="547323"/>
                    </a:cubicBezTo>
                    <a:cubicBezTo>
                      <a:pt x="2358221" y="552162"/>
                      <a:pt x="2351658" y="554881"/>
                      <a:pt x="2344814" y="554881"/>
                    </a:cubicBezTo>
                    <a:lnTo>
                      <a:pt x="25804" y="554881"/>
                    </a:lnTo>
                    <a:cubicBezTo>
                      <a:pt x="11553" y="554881"/>
                      <a:pt x="0" y="543328"/>
                      <a:pt x="0" y="529077"/>
                    </a:cubicBezTo>
                    <a:lnTo>
                      <a:pt x="0" y="25804"/>
                    </a:lnTo>
                    <a:cubicBezTo>
                      <a:pt x="0" y="18960"/>
                      <a:pt x="2719" y="12397"/>
                      <a:pt x="7558" y="7558"/>
                    </a:cubicBezTo>
                    <a:cubicBezTo>
                      <a:pt x="12397" y="2719"/>
                      <a:pt x="18960" y="0"/>
                      <a:pt x="2580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CB6CE6">
                      <a:alpha val="100000"/>
                    </a:srgbClr>
                  </a:gs>
                </a:gsLst>
                <a:lin ang="270000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0"/>
                <a:ext cx="2370618" cy="5548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86"/>
                  </a:lnSpc>
                </a:pPr>
                <a:endParaRPr/>
              </a:p>
            </p:txBody>
          </p:sp>
        </p:grpSp>
        <p:sp>
          <p:nvSpPr>
            <p:cNvPr id="26" name="Freeform 26"/>
            <p:cNvSpPr/>
            <p:nvPr/>
          </p:nvSpPr>
          <p:spPr>
            <a:xfrm>
              <a:off x="6319525" y="345211"/>
              <a:ext cx="1245459" cy="231967"/>
            </a:xfrm>
            <a:custGeom>
              <a:avLst/>
              <a:gdLst/>
              <a:ahLst/>
              <a:cxnLst/>
              <a:rect l="l" t="t" r="r" b="b"/>
              <a:pathLst>
                <a:path w="1245459" h="231967">
                  <a:moveTo>
                    <a:pt x="0" y="0"/>
                  </a:moveTo>
                  <a:lnTo>
                    <a:pt x="1245458" y="0"/>
                  </a:lnTo>
                  <a:lnTo>
                    <a:pt x="1245458" y="231966"/>
                  </a:lnTo>
                  <a:lnTo>
                    <a:pt x="0" y="231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25566" y="205419"/>
              <a:ext cx="4469996" cy="3717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37"/>
                </a:lnSpc>
              </a:pPr>
              <a:r>
                <a:rPr lang="en-US" sz="166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Cheryl Tan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5566" y="931577"/>
              <a:ext cx="6439418" cy="9447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02"/>
                </a:lnSpc>
              </a:pPr>
              <a:r>
                <a:rPr lang="en-US" sz="1001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"From pipeline to onboarding, the trend in our hiring success has skyrocketed, especially when paired with Evalsy’s AI Interviewer."</a:t>
              </a:r>
            </a:p>
            <a:p>
              <a:pPr algn="l">
                <a:lnSpc>
                  <a:spcPts val="1402"/>
                </a:lnSpc>
              </a:pPr>
              <a:endParaRPr lang="en-US" sz="100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  <a:p>
              <a:pPr algn="l">
                <a:lnSpc>
                  <a:spcPts val="1402"/>
                </a:lnSpc>
              </a:pPr>
              <a:endParaRPr lang="en-US" sz="100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5566" y="613740"/>
              <a:ext cx="2478772" cy="2321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02"/>
                </a:lnSpc>
              </a:pPr>
              <a:r>
                <a:rPr lang="en-US" sz="1001" b="1">
                  <a:solidFill>
                    <a:srgbClr val="C7BEC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HR Manager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807158" y="8029216"/>
            <a:ext cx="6012084" cy="1407223"/>
            <a:chOff x="0" y="0"/>
            <a:chExt cx="8016112" cy="1876298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8016112" cy="1876298"/>
              <a:chOff x="0" y="0"/>
              <a:chExt cx="2370618" cy="554881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2370618" cy="554881"/>
              </a:xfrm>
              <a:custGeom>
                <a:avLst/>
                <a:gdLst/>
                <a:ahLst/>
                <a:cxnLst/>
                <a:rect l="l" t="t" r="r" b="b"/>
                <a:pathLst>
                  <a:path w="2370618" h="554881">
                    <a:moveTo>
                      <a:pt x="25804" y="0"/>
                    </a:moveTo>
                    <a:lnTo>
                      <a:pt x="2344814" y="0"/>
                    </a:lnTo>
                    <a:cubicBezTo>
                      <a:pt x="2351658" y="0"/>
                      <a:pt x="2358221" y="2719"/>
                      <a:pt x="2363060" y="7558"/>
                    </a:cubicBezTo>
                    <a:cubicBezTo>
                      <a:pt x="2367899" y="12397"/>
                      <a:pt x="2370618" y="18960"/>
                      <a:pt x="2370618" y="25804"/>
                    </a:cubicBezTo>
                    <a:lnTo>
                      <a:pt x="2370618" y="529077"/>
                    </a:lnTo>
                    <a:cubicBezTo>
                      <a:pt x="2370618" y="535920"/>
                      <a:pt x="2367899" y="542484"/>
                      <a:pt x="2363060" y="547323"/>
                    </a:cubicBezTo>
                    <a:cubicBezTo>
                      <a:pt x="2358221" y="552162"/>
                      <a:pt x="2351658" y="554881"/>
                      <a:pt x="2344814" y="554881"/>
                    </a:cubicBezTo>
                    <a:lnTo>
                      <a:pt x="25804" y="554881"/>
                    </a:lnTo>
                    <a:cubicBezTo>
                      <a:pt x="11553" y="554881"/>
                      <a:pt x="0" y="543328"/>
                      <a:pt x="0" y="529077"/>
                    </a:cubicBezTo>
                    <a:lnTo>
                      <a:pt x="0" y="25804"/>
                    </a:lnTo>
                    <a:cubicBezTo>
                      <a:pt x="0" y="18960"/>
                      <a:pt x="2719" y="12397"/>
                      <a:pt x="7558" y="7558"/>
                    </a:cubicBezTo>
                    <a:cubicBezTo>
                      <a:pt x="12397" y="2719"/>
                      <a:pt x="18960" y="0"/>
                      <a:pt x="2580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CB6CE6">
                      <a:alpha val="100000"/>
                    </a:srgbClr>
                  </a:gs>
                </a:gsLst>
                <a:lin ang="270000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0"/>
                <a:ext cx="2370618" cy="5548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86"/>
                  </a:lnSpc>
                </a:pPr>
                <a:endParaRPr/>
              </a:p>
            </p:txBody>
          </p:sp>
        </p:grpSp>
        <p:sp>
          <p:nvSpPr>
            <p:cNvPr id="34" name="Freeform 34"/>
            <p:cNvSpPr/>
            <p:nvPr/>
          </p:nvSpPr>
          <p:spPr>
            <a:xfrm>
              <a:off x="6319525" y="345211"/>
              <a:ext cx="1245459" cy="231967"/>
            </a:xfrm>
            <a:custGeom>
              <a:avLst/>
              <a:gdLst/>
              <a:ahLst/>
              <a:cxnLst/>
              <a:rect l="l" t="t" r="r" b="b"/>
              <a:pathLst>
                <a:path w="1245459" h="231967">
                  <a:moveTo>
                    <a:pt x="0" y="0"/>
                  </a:moveTo>
                  <a:lnTo>
                    <a:pt x="1245458" y="0"/>
                  </a:lnTo>
                  <a:lnTo>
                    <a:pt x="1245458" y="231966"/>
                  </a:lnTo>
                  <a:lnTo>
                    <a:pt x="0" y="231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5566" y="205419"/>
              <a:ext cx="4469996" cy="3717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37"/>
                </a:lnSpc>
              </a:pPr>
              <a:r>
                <a:rPr lang="en-US" sz="166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Mei Ling Ong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5566" y="931577"/>
              <a:ext cx="6439418" cy="9447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02"/>
                </a:lnSpc>
              </a:pPr>
              <a:r>
                <a:rPr lang="en-US" sz="1001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"I was blown away by how simple the hiring process became. The AI did the heavy lifting, letting me focus on choosing the best candidates."</a:t>
              </a:r>
            </a:p>
            <a:p>
              <a:pPr algn="l">
                <a:lnSpc>
                  <a:spcPts val="1402"/>
                </a:lnSpc>
              </a:pPr>
              <a:endParaRPr lang="en-US" sz="100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  <a:p>
              <a:pPr algn="l">
                <a:lnSpc>
                  <a:spcPts val="1402"/>
                </a:lnSpc>
              </a:pPr>
              <a:endParaRPr lang="en-US" sz="100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5566" y="613740"/>
              <a:ext cx="2478772" cy="2321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02"/>
                </a:lnSpc>
              </a:pPr>
              <a:r>
                <a:rPr lang="en-US" sz="1001" b="1">
                  <a:solidFill>
                    <a:srgbClr val="C7BEC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Hiring Lead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727347" y="3652481"/>
            <a:ext cx="6012084" cy="1407223"/>
            <a:chOff x="0" y="0"/>
            <a:chExt cx="8016112" cy="1876298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8016112" cy="1876298"/>
              <a:chOff x="0" y="0"/>
              <a:chExt cx="2370618" cy="554881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2370618" cy="554881"/>
              </a:xfrm>
              <a:custGeom>
                <a:avLst/>
                <a:gdLst/>
                <a:ahLst/>
                <a:cxnLst/>
                <a:rect l="l" t="t" r="r" b="b"/>
                <a:pathLst>
                  <a:path w="2370618" h="554881">
                    <a:moveTo>
                      <a:pt x="25804" y="0"/>
                    </a:moveTo>
                    <a:lnTo>
                      <a:pt x="2344814" y="0"/>
                    </a:lnTo>
                    <a:cubicBezTo>
                      <a:pt x="2351658" y="0"/>
                      <a:pt x="2358221" y="2719"/>
                      <a:pt x="2363060" y="7558"/>
                    </a:cubicBezTo>
                    <a:cubicBezTo>
                      <a:pt x="2367899" y="12397"/>
                      <a:pt x="2370618" y="18960"/>
                      <a:pt x="2370618" y="25804"/>
                    </a:cubicBezTo>
                    <a:lnTo>
                      <a:pt x="2370618" y="529077"/>
                    </a:lnTo>
                    <a:cubicBezTo>
                      <a:pt x="2370618" y="535920"/>
                      <a:pt x="2367899" y="542484"/>
                      <a:pt x="2363060" y="547323"/>
                    </a:cubicBezTo>
                    <a:cubicBezTo>
                      <a:pt x="2358221" y="552162"/>
                      <a:pt x="2351658" y="554881"/>
                      <a:pt x="2344814" y="554881"/>
                    </a:cubicBezTo>
                    <a:lnTo>
                      <a:pt x="25804" y="554881"/>
                    </a:lnTo>
                    <a:cubicBezTo>
                      <a:pt x="11553" y="554881"/>
                      <a:pt x="0" y="543328"/>
                      <a:pt x="0" y="529077"/>
                    </a:cubicBezTo>
                    <a:lnTo>
                      <a:pt x="0" y="25804"/>
                    </a:lnTo>
                    <a:cubicBezTo>
                      <a:pt x="0" y="18960"/>
                      <a:pt x="2719" y="12397"/>
                      <a:pt x="7558" y="7558"/>
                    </a:cubicBezTo>
                    <a:cubicBezTo>
                      <a:pt x="12397" y="2719"/>
                      <a:pt x="18960" y="0"/>
                      <a:pt x="2580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CB6CE6">
                      <a:alpha val="100000"/>
                    </a:srgbClr>
                  </a:gs>
                </a:gsLst>
                <a:lin ang="270000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0"/>
                <a:ext cx="2370618" cy="5548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86"/>
                  </a:lnSpc>
                </a:pPr>
                <a:endParaRPr/>
              </a:p>
            </p:txBody>
          </p:sp>
        </p:grpSp>
        <p:sp>
          <p:nvSpPr>
            <p:cNvPr id="42" name="Freeform 42"/>
            <p:cNvSpPr/>
            <p:nvPr/>
          </p:nvSpPr>
          <p:spPr>
            <a:xfrm>
              <a:off x="6319525" y="345211"/>
              <a:ext cx="1245459" cy="231967"/>
            </a:xfrm>
            <a:custGeom>
              <a:avLst/>
              <a:gdLst/>
              <a:ahLst/>
              <a:cxnLst/>
              <a:rect l="l" t="t" r="r" b="b"/>
              <a:pathLst>
                <a:path w="1245459" h="231967">
                  <a:moveTo>
                    <a:pt x="0" y="0"/>
                  </a:moveTo>
                  <a:lnTo>
                    <a:pt x="1245458" y="0"/>
                  </a:lnTo>
                  <a:lnTo>
                    <a:pt x="1245458" y="231966"/>
                  </a:lnTo>
                  <a:lnTo>
                    <a:pt x="0" y="231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5566" y="205419"/>
              <a:ext cx="4469996" cy="3717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37"/>
                </a:lnSpc>
              </a:pPr>
              <a:r>
                <a:rPr lang="en-US" sz="166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Naveen Rajapaksa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5566" y="931577"/>
              <a:ext cx="6439418" cy="9447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02"/>
                </a:lnSpc>
              </a:pPr>
              <a:r>
                <a:rPr lang="en-US" sz="1001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"We used to waste weeks screening resumes. The AI makes hiring so much faster I wonder how we worked without it."</a:t>
              </a:r>
            </a:p>
            <a:p>
              <a:pPr algn="l">
                <a:lnSpc>
                  <a:spcPts val="1402"/>
                </a:lnSpc>
              </a:pPr>
              <a:endParaRPr lang="en-US" sz="100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  <a:p>
              <a:pPr algn="l">
                <a:lnSpc>
                  <a:spcPts val="1402"/>
                </a:lnSpc>
              </a:pPr>
              <a:endParaRPr lang="en-US" sz="100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25566" y="613740"/>
              <a:ext cx="2478772" cy="2321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02"/>
                </a:lnSpc>
              </a:pPr>
              <a:r>
                <a:rPr lang="en-US" sz="1001" b="1">
                  <a:solidFill>
                    <a:srgbClr val="C7BEC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Recruitment Director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162600" y="5710240"/>
            <a:ext cx="6012084" cy="1407223"/>
            <a:chOff x="0" y="0"/>
            <a:chExt cx="8016112" cy="1876298"/>
          </a:xfrm>
        </p:grpSpPr>
        <p:grpSp>
          <p:nvGrpSpPr>
            <p:cNvPr id="47" name="Group 47"/>
            <p:cNvGrpSpPr/>
            <p:nvPr/>
          </p:nvGrpSpPr>
          <p:grpSpPr>
            <a:xfrm>
              <a:off x="0" y="0"/>
              <a:ext cx="8016112" cy="1876298"/>
              <a:chOff x="0" y="0"/>
              <a:chExt cx="2370618" cy="554881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2370618" cy="554881"/>
              </a:xfrm>
              <a:custGeom>
                <a:avLst/>
                <a:gdLst/>
                <a:ahLst/>
                <a:cxnLst/>
                <a:rect l="l" t="t" r="r" b="b"/>
                <a:pathLst>
                  <a:path w="2370618" h="554881">
                    <a:moveTo>
                      <a:pt x="25804" y="0"/>
                    </a:moveTo>
                    <a:lnTo>
                      <a:pt x="2344814" y="0"/>
                    </a:lnTo>
                    <a:cubicBezTo>
                      <a:pt x="2351658" y="0"/>
                      <a:pt x="2358221" y="2719"/>
                      <a:pt x="2363060" y="7558"/>
                    </a:cubicBezTo>
                    <a:cubicBezTo>
                      <a:pt x="2367899" y="12397"/>
                      <a:pt x="2370618" y="18960"/>
                      <a:pt x="2370618" y="25804"/>
                    </a:cubicBezTo>
                    <a:lnTo>
                      <a:pt x="2370618" y="529077"/>
                    </a:lnTo>
                    <a:cubicBezTo>
                      <a:pt x="2370618" y="535920"/>
                      <a:pt x="2367899" y="542484"/>
                      <a:pt x="2363060" y="547323"/>
                    </a:cubicBezTo>
                    <a:cubicBezTo>
                      <a:pt x="2358221" y="552162"/>
                      <a:pt x="2351658" y="554881"/>
                      <a:pt x="2344814" y="554881"/>
                    </a:cubicBezTo>
                    <a:lnTo>
                      <a:pt x="25804" y="554881"/>
                    </a:lnTo>
                    <a:cubicBezTo>
                      <a:pt x="11553" y="554881"/>
                      <a:pt x="0" y="543328"/>
                      <a:pt x="0" y="529077"/>
                    </a:cubicBezTo>
                    <a:lnTo>
                      <a:pt x="0" y="25804"/>
                    </a:lnTo>
                    <a:cubicBezTo>
                      <a:pt x="0" y="18960"/>
                      <a:pt x="2719" y="12397"/>
                      <a:pt x="7558" y="7558"/>
                    </a:cubicBezTo>
                    <a:cubicBezTo>
                      <a:pt x="12397" y="2719"/>
                      <a:pt x="18960" y="0"/>
                      <a:pt x="2580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CB6CE6">
                      <a:alpha val="100000"/>
                    </a:srgbClr>
                  </a:gs>
                </a:gsLst>
                <a:lin ang="270000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0" y="0"/>
                <a:ext cx="2370618" cy="5548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86"/>
                  </a:lnSpc>
                </a:pPr>
                <a:endParaRPr/>
              </a:p>
            </p:txBody>
          </p:sp>
        </p:grpSp>
        <p:sp>
          <p:nvSpPr>
            <p:cNvPr id="50" name="Freeform 50"/>
            <p:cNvSpPr/>
            <p:nvPr/>
          </p:nvSpPr>
          <p:spPr>
            <a:xfrm>
              <a:off x="6319525" y="345211"/>
              <a:ext cx="1245459" cy="231967"/>
            </a:xfrm>
            <a:custGeom>
              <a:avLst/>
              <a:gdLst/>
              <a:ahLst/>
              <a:cxnLst/>
              <a:rect l="l" t="t" r="r" b="b"/>
              <a:pathLst>
                <a:path w="1245459" h="231967">
                  <a:moveTo>
                    <a:pt x="0" y="0"/>
                  </a:moveTo>
                  <a:lnTo>
                    <a:pt x="1245458" y="0"/>
                  </a:lnTo>
                  <a:lnTo>
                    <a:pt x="1245458" y="231966"/>
                  </a:lnTo>
                  <a:lnTo>
                    <a:pt x="0" y="231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5566" y="205419"/>
              <a:ext cx="4469996" cy="3717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37"/>
                </a:lnSpc>
              </a:pPr>
              <a:r>
                <a:rPr lang="en-US" sz="166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Brandon Scott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25566" y="931577"/>
              <a:ext cx="6439418" cy="9447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02"/>
                </a:lnSpc>
              </a:pPr>
              <a:r>
                <a:rPr lang="en-US" sz="1001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"Evalsy is an AI game-changer. The AI handled everything from screening to scheduling, saving us hours of manual work."</a:t>
              </a:r>
            </a:p>
            <a:p>
              <a:pPr algn="l">
                <a:lnSpc>
                  <a:spcPts val="1402"/>
                </a:lnSpc>
              </a:pPr>
              <a:endParaRPr lang="en-US" sz="100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  <a:p>
              <a:pPr algn="l">
                <a:lnSpc>
                  <a:spcPts val="1402"/>
                </a:lnSpc>
              </a:pPr>
              <a:endParaRPr lang="en-US" sz="100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5566" y="613740"/>
              <a:ext cx="2478772" cy="2321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02"/>
                </a:lnSpc>
              </a:pPr>
              <a:r>
                <a:rPr lang="en-US" sz="1001" b="1">
                  <a:solidFill>
                    <a:srgbClr val="C7BEC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Head of Talent, New York</a:t>
              </a:r>
            </a:p>
          </p:txBody>
        </p:sp>
      </p:grpSp>
      <p:sp>
        <p:nvSpPr>
          <p:cNvPr id="54" name="Freeform 54"/>
          <p:cNvSpPr/>
          <p:nvPr/>
        </p:nvSpPr>
        <p:spPr>
          <a:xfrm>
            <a:off x="8867896" y="3803885"/>
            <a:ext cx="552208" cy="552208"/>
          </a:xfrm>
          <a:custGeom>
            <a:avLst/>
            <a:gdLst/>
            <a:ahLst/>
            <a:cxnLst/>
            <a:rect l="l" t="t" r="r" b="b"/>
            <a:pathLst>
              <a:path w="552208" h="552208">
                <a:moveTo>
                  <a:pt x="0" y="0"/>
                </a:moveTo>
                <a:lnTo>
                  <a:pt x="552208" y="0"/>
                </a:lnTo>
                <a:lnTo>
                  <a:pt x="552208" y="552208"/>
                </a:lnTo>
                <a:lnTo>
                  <a:pt x="0" y="55220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5" name="Freeform 55"/>
          <p:cNvSpPr/>
          <p:nvPr/>
        </p:nvSpPr>
        <p:spPr>
          <a:xfrm>
            <a:off x="4408926" y="5877397"/>
            <a:ext cx="536454" cy="536454"/>
          </a:xfrm>
          <a:custGeom>
            <a:avLst/>
            <a:gdLst/>
            <a:ahLst/>
            <a:cxnLst/>
            <a:rect l="l" t="t" r="r" b="b"/>
            <a:pathLst>
              <a:path w="536454" h="536454">
                <a:moveTo>
                  <a:pt x="0" y="0"/>
                </a:moveTo>
                <a:lnTo>
                  <a:pt x="536454" y="0"/>
                </a:lnTo>
                <a:lnTo>
                  <a:pt x="536454" y="536455"/>
                </a:lnTo>
                <a:lnTo>
                  <a:pt x="0" y="53645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6" name="Freeform 56"/>
          <p:cNvSpPr/>
          <p:nvPr/>
        </p:nvSpPr>
        <p:spPr>
          <a:xfrm>
            <a:off x="11181133" y="6137724"/>
            <a:ext cx="552256" cy="552256"/>
          </a:xfrm>
          <a:custGeom>
            <a:avLst/>
            <a:gdLst/>
            <a:ahLst/>
            <a:cxnLst/>
            <a:rect l="l" t="t" r="r" b="b"/>
            <a:pathLst>
              <a:path w="552256" h="552256">
                <a:moveTo>
                  <a:pt x="0" y="0"/>
                </a:moveTo>
                <a:lnTo>
                  <a:pt x="552256" y="0"/>
                </a:lnTo>
                <a:lnTo>
                  <a:pt x="552256" y="552256"/>
                </a:lnTo>
                <a:lnTo>
                  <a:pt x="0" y="55225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7" name="Freeform 57"/>
          <p:cNvSpPr/>
          <p:nvPr/>
        </p:nvSpPr>
        <p:spPr>
          <a:xfrm>
            <a:off x="1264604" y="7858125"/>
            <a:ext cx="564126" cy="564126"/>
          </a:xfrm>
          <a:custGeom>
            <a:avLst/>
            <a:gdLst/>
            <a:ahLst/>
            <a:cxnLst/>
            <a:rect l="l" t="t" r="r" b="b"/>
            <a:pathLst>
              <a:path w="564126" h="564126">
                <a:moveTo>
                  <a:pt x="0" y="0"/>
                </a:moveTo>
                <a:lnTo>
                  <a:pt x="564127" y="0"/>
                </a:lnTo>
                <a:lnTo>
                  <a:pt x="564127" y="564126"/>
                </a:lnTo>
                <a:lnTo>
                  <a:pt x="0" y="56412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8" name="Freeform 58"/>
          <p:cNvSpPr/>
          <p:nvPr/>
        </p:nvSpPr>
        <p:spPr>
          <a:xfrm>
            <a:off x="7970525" y="8140188"/>
            <a:ext cx="564126" cy="564126"/>
          </a:xfrm>
          <a:custGeom>
            <a:avLst/>
            <a:gdLst/>
            <a:ahLst/>
            <a:cxnLst/>
            <a:rect l="l" t="t" r="r" b="b"/>
            <a:pathLst>
              <a:path w="564126" h="564126">
                <a:moveTo>
                  <a:pt x="0" y="0"/>
                </a:moveTo>
                <a:lnTo>
                  <a:pt x="564126" y="0"/>
                </a:lnTo>
                <a:lnTo>
                  <a:pt x="564126" y="564126"/>
                </a:lnTo>
                <a:lnTo>
                  <a:pt x="0" y="56412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9" name="TextBox 59"/>
          <p:cNvSpPr txBox="1"/>
          <p:nvPr/>
        </p:nvSpPr>
        <p:spPr>
          <a:xfrm>
            <a:off x="1402884" y="1893231"/>
            <a:ext cx="513235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8C52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Testimonials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402884" y="2553174"/>
            <a:ext cx="11016531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60"/>
              </a:lnSpc>
            </a:pPr>
            <a:r>
              <a:rPr lang="en-US" sz="6000" b="1" i="1">
                <a:solidFill>
                  <a:srgbClr val="F7F7F7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Wha our client say about us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8DFE5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6801" y="4397640"/>
            <a:ext cx="16252499" cy="3788454"/>
            <a:chOff x="0" y="0"/>
            <a:chExt cx="4280494" cy="9977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80494" cy="997782"/>
            </a:xfrm>
            <a:custGeom>
              <a:avLst/>
              <a:gdLst/>
              <a:ahLst/>
              <a:cxnLst/>
              <a:rect l="l" t="t" r="r" b="b"/>
              <a:pathLst>
                <a:path w="4280494" h="997782">
                  <a:moveTo>
                    <a:pt x="14291" y="0"/>
                  </a:moveTo>
                  <a:lnTo>
                    <a:pt x="4266203" y="0"/>
                  </a:lnTo>
                  <a:cubicBezTo>
                    <a:pt x="4269993" y="0"/>
                    <a:pt x="4273628" y="1506"/>
                    <a:pt x="4276308" y="4186"/>
                  </a:cubicBezTo>
                  <a:cubicBezTo>
                    <a:pt x="4278988" y="6866"/>
                    <a:pt x="4280494" y="10500"/>
                    <a:pt x="4280494" y="14291"/>
                  </a:cubicBezTo>
                  <a:lnTo>
                    <a:pt x="4280494" y="983492"/>
                  </a:lnTo>
                  <a:cubicBezTo>
                    <a:pt x="4280494" y="987282"/>
                    <a:pt x="4278988" y="990917"/>
                    <a:pt x="4276308" y="993597"/>
                  </a:cubicBezTo>
                  <a:cubicBezTo>
                    <a:pt x="4273628" y="996277"/>
                    <a:pt x="4269993" y="997782"/>
                    <a:pt x="4266203" y="997782"/>
                  </a:cubicBezTo>
                  <a:lnTo>
                    <a:pt x="14291" y="997782"/>
                  </a:lnTo>
                  <a:cubicBezTo>
                    <a:pt x="10500" y="997782"/>
                    <a:pt x="6866" y="996277"/>
                    <a:pt x="4186" y="993597"/>
                  </a:cubicBezTo>
                  <a:cubicBezTo>
                    <a:pt x="1506" y="990917"/>
                    <a:pt x="0" y="987282"/>
                    <a:pt x="0" y="983492"/>
                  </a:cubicBezTo>
                  <a:lnTo>
                    <a:pt x="0" y="14291"/>
                  </a:lnTo>
                  <a:cubicBezTo>
                    <a:pt x="0" y="10500"/>
                    <a:pt x="1506" y="6866"/>
                    <a:pt x="4186" y="4186"/>
                  </a:cubicBezTo>
                  <a:cubicBezTo>
                    <a:pt x="6866" y="1506"/>
                    <a:pt x="10500" y="0"/>
                    <a:pt x="142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80494" cy="1045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86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2621533" y="7135110"/>
            <a:ext cx="5768177" cy="5768177"/>
          </a:xfrm>
          <a:custGeom>
            <a:avLst/>
            <a:gdLst/>
            <a:ahLst/>
            <a:cxnLst/>
            <a:rect l="l" t="t" r="r" b="b"/>
            <a:pathLst>
              <a:path w="5768177" h="5768177">
                <a:moveTo>
                  <a:pt x="0" y="0"/>
                </a:moveTo>
                <a:lnTo>
                  <a:pt x="5768177" y="0"/>
                </a:lnTo>
                <a:lnTo>
                  <a:pt x="5768177" y="5768177"/>
                </a:lnTo>
                <a:lnTo>
                  <a:pt x="0" y="5768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3200853" y="-3833554"/>
            <a:ext cx="8116893" cy="8116893"/>
          </a:xfrm>
          <a:custGeom>
            <a:avLst/>
            <a:gdLst/>
            <a:ahLst/>
            <a:cxnLst/>
            <a:rect l="l" t="t" r="r" b="b"/>
            <a:pathLst>
              <a:path w="8116893" h="8116893">
                <a:moveTo>
                  <a:pt x="0" y="0"/>
                </a:moveTo>
                <a:lnTo>
                  <a:pt x="8116894" y="0"/>
                </a:lnTo>
                <a:lnTo>
                  <a:pt x="8116894" y="8116894"/>
                </a:lnTo>
                <a:lnTo>
                  <a:pt x="0" y="81168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402884" y="706793"/>
            <a:ext cx="2446798" cy="643814"/>
          </a:xfrm>
          <a:custGeom>
            <a:avLst/>
            <a:gdLst/>
            <a:ahLst/>
            <a:cxnLst/>
            <a:rect l="l" t="t" r="r" b="b"/>
            <a:pathLst>
              <a:path w="2446798" h="643814">
                <a:moveTo>
                  <a:pt x="0" y="0"/>
                </a:moveTo>
                <a:lnTo>
                  <a:pt x="2446798" y="0"/>
                </a:lnTo>
                <a:lnTo>
                  <a:pt x="2446798" y="643814"/>
                </a:lnTo>
                <a:lnTo>
                  <a:pt x="0" y="6438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402884" y="2198080"/>
            <a:ext cx="10209736" cy="1658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47"/>
              </a:lnSpc>
            </a:pPr>
            <a:r>
              <a:rPr lang="en-US" sz="5899" b="1" i="1">
                <a:solidFill>
                  <a:srgbClr val="01206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Simple, Usage-Based Pricing</a:t>
            </a:r>
          </a:p>
          <a:p>
            <a:pPr algn="l">
              <a:lnSpc>
                <a:spcPts val="6547"/>
              </a:lnSpc>
            </a:pPr>
            <a:endParaRPr lang="en-US" sz="5899" b="1" i="1">
              <a:solidFill>
                <a:srgbClr val="01206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86172" y="5981067"/>
            <a:ext cx="3541240" cy="1776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5" lvl="1" indent="-226697" algn="l">
              <a:lnSpc>
                <a:spcPts val="2331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F7F7F7">
                    <a:alpha val="5568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10 free credits</a:t>
            </a:r>
          </a:p>
          <a:p>
            <a:pPr marL="453395" lvl="1" indent="-226697" algn="l">
              <a:lnSpc>
                <a:spcPts val="2331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F7F7F7">
                    <a:alpha val="5568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Unlimited job postings</a:t>
            </a:r>
          </a:p>
          <a:p>
            <a:pPr marL="453395" lvl="1" indent="-226697" algn="l">
              <a:lnSpc>
                <a:spcPts val="2331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F7F7F7">
                    <a:alpha val="5568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Full access to AI interviews</a:t>
            </a:r>
          </a:p>
          <a:p>
            <a:pPr marL="453395" lvl="1" indent="-226697" algn="l">
              <a:lnSpc>
                <a:spcPts val="2331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F7F7F7">
                    <a:alpha val="5568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Cancel anytime, no commitment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23200" y="5343849"/>
            <a:ext cx="3304212" cy="87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2028" b="1">
                <a:solidFill>
                  <a:srgbClr val="F7F7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Free Trial</a:t>
            </a:r>
          </a:p>
          <a:p>
            <a:pPr algn="l">
              <a:lnSpc>
                <a:spcPts val="2251"/>
              </a:lnSpc>
            </a:pPr>
            <a:endParaRPr lang="en-US" sz="2028" b="1">
              <a:solidFill>
                <a:srgbClr val="F7F7F7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2251"/>
              </a:lnSpc>
            </a:pPr>
            <a:endParaRPr lang="en-US" sz="2028" b="1">
              <a:solidFill>
                <a:srgbClr val="F7F7F7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12617" y="1607904"/>
            <a:ext cx="296821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8C52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Pricing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94475" y="5981067"/>
            <a:ext cx="3541240" cy="1481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5" lvl="1" indent="-226697" algn="l">
              <a:lnSpc>
                <a:spcPts val="2331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F7F7F7">
                    <a:alpha val="5568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50 Credits –$10</a:t>
            </a:r>
          </a:p>
          <a:p>
            <a:pPr marL="453395" lvl="1" indent="-226697" algn="l">
              <a:lnSpc>
                <a:spcPts val="2331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F7F7F7">
                    <a:alpha val="5568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200 Credits –$35</a:t>
            </a:r>
          </a:p>
          <a:p>
            <a:pPr marL="453395" lvl="1" indent="-226697" algn="l">
              <a:lnSpc>
                <a:spcPts val="2331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F7F7F7">
                    <a:alpha val="5568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500 Credits –$75</a:t>
            </a:r>
          </a:p>
          <a:p>
            <a:pPr marL="453395" lvl="1" indent="-226697" algn="l">
              <a:lnSpc>
                <a:spcPts val="2331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F7F7F7">
                    <a:alpha val="5568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Credits never expire</a:t>
            </a:r>
          </a:p>
          <a:p>
            <a:pPr marL="453395" lvl="1" indent="-226697" algn="l">
              <a:lnSpc>
                <a:spcPts val="2331"/>
              </a:lnSpc>
              <a:spcBef>
                <a:spcPct val="0"/>
              </a:spcBef>
              <a:buFont typeface="Arial"/>
              <a:buChar char="•"/>
            </a:pPr>
            <a:endParaRPr lang="en-US" sz="2100" u="none" strike="noStrike">
              <a:solidFill>
                <a:srgbClr val="F7F7F7">
                  <a:alpha val="55686"/>
                </a:srgb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231504" y="5343849"/>
            <a:ext cx="3304212" cy="87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2028" b="1">
                <a:solidFill>
                  <a:srgbClr val="F7F7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Credit Packages</a:t>
            </a:r>
          </a:p>
          <a:p>
            <a:pPr algn="l">
              <a:lnSpc>
                <a:spcPts val="2251"/>
              </a:lnSpc>
            </a:pPr>
            <a:endParaRPr lang="en-US" sz="2028" b="1">
              <a:solidFill>
                <a:srgbClr val="F7F7F7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2251"/>
              </a:lnSpc>
            </a:pPr>
            <a:endParaRPr lang="en-US" sz="2028" b="1">
              <a:solidFill>
                <a:srgbClr val="F7F7F7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307241" y="5981067"/>
            <a:ext cx="5311055" cy="2071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5" lvl="1" indent="-226697" algn="l">
              <a:lnSpc>
                <a:spcPts val="2331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F7F7F7">
                    <a:alpha val="5568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Resume screening – 1 credit per resume</a:t>
            </a:r>
          </a:p>
          <a:p>
            <a:pPr marL="453395" lvl="1" indent="-226697" algn="l">
              <a:lnSpc>
                <a:spcPts val="2331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F7F7F7">
                    <a:alpha val="5568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Manual interview invite – 3 credits</a:t>
            </a:r>
          </a:p>
          <a:p>
            <a:pPr marL="453395" lvl="1" indent="-226697" algn="l">
              <a:lnSpc>
                <a:spcPts val="2331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F7F7F7">
                    <a:alpha val="5568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AI voice interview – 1 credit per minute</a:t>
            </a:r>
          </a:p>
          <a:p>
            <a:pPr marL="453395" lvl="1" indent="-226697" algn="l">
              <a:lnSpc>
                <a:spcPts val="2331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F7F7F7">
                    <a:alpha val="5568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Real-time usage tracking in your dashboard</a:t>
            </a:r>
          </a:p>
          <a:p>
            <a:pPr marL="453395" lvl="1" indent="-226697" algn="l">
              <a:lnSpc>
                <a:spcPts val="2331"/>
              </a:lnSpc>
              <a:spcBef>
                <a:spcPct val="0"/>
              </a:spcBef>
              <a:buFont typeface="Arial"/>
              <a:buChar char="•"/>
            </a:pPr>
            <a:endParaRPr lang="en-US" sz="2100" u="none" strike="noStrike">
              <a:solidFill>
                <a:srgbClr val="F7F7F7">
                  <a:alpha val="55686"/>
                </a:srgb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544269" y="5343849"/>
            <a:ext cx="3304212" cy="87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2028" b="1">
                <a:solidFill>
                  <a:srgbClr val="F7F7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Pay-as-You-Go</a:t>
            </a:r>
          </a:p>
          <a:p>
            <a:pPr algn="l">
              <a:lnSpc>
                <a:spcPts val="2251"/>
              </a:lnSpc>
            </a:pPr>
            <a:endParaRPr lang="en-US" sz="2028" b="1">
              <a:solidFill>
                <a:srgbClr val="F7F7F7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2251"/>
              </a:lnSpc>
            </a:pPr>
            <a:endParaRPr lang="en-US" sz="2028" b="1">
              <a:solidFill>
                <a:srgbClr val="F7F7F7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-5929545" y="-2402918"/>
            <a:ext cx="8116893" cy="8116893"/>
          </a:xfrm>
          <a:custGeom>
            <a:avLst/>
            <a:gdLst/>
            <a:ahLst/>
            <a:cxnLst/>
            <a:rect l="l" t="t" r="r" b="b"/>
            <a:pathLst>
              <a:path w="8116893" h="8116893">
                <a:moveTo>
                  <a:pt x="0" y="0"/>
                </a:moveTo>
                <a:lnTo>
                  <a:pt x="8116893" y="0"/>
                </a:lnTo>
                <a:lnTo>
                  <a:pt x="8116893" y="8116893"/>
                </a:lnTo>
                <a:lnTo>
                  <a:pt x="0" y="81168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719797" y="1265490"/>
            <a:ext cx="6921335" cy="6921335"/>
          </a:xfrm>
          <a:custGeom>
            <a:avLst/>
            <a:gdLst/>
            <a:ahLst/>
            <a:cxnLst/>
            <a:rect l="l" t="t" r="r" b="b"/>
            <a:pathLst>
              <a:path w="6921335" h="6921335">
                <a:moveTo>
                  <a:pt x="0" y="0"/>
                </a:moveTo>
                <a:lnTo>
                  <a:pt x="6921335" y="0"/>
                </a:lnTo>
                <a:lnTo>
                  <a:pt x="6921335" y="6921335"/>
                </a:lnTo>
                <a:lnTo>
                  <a:pt x="0" y="6921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338232" y="-5365642"/>
            <a:ext cx="11026172" cy="11026172"/>
          </a:xfrm>
          <a:custGeom>
            <a:avLst/>
            <a:gdLst/>
            <a:ahLst/>
            <a:cxnLst/>
            <a:rect l="l" t="t" r="r" b="b"/>
            <a:pathLst>
              <a:path w="11026172" h="11026172">
                <a:moveTo>
                  <a:pt x="0" y="0"/>
                </a:moveTo>
                <a:lnTo>
                  <a:pt x="11026172" y="0"/>
                </a:lnTo>
                <a:lnTo>
                  <a:pt x="11026172" y="11026172"/>
                </a:lnTo>
                <a:lnTo>
                  <a:pt x="0" y="11026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437155" y="4726157"/>
            <a:ext cx="18516155" cy="4247250"/>
            <a:chOff x="0" y="0"/>
            <a:chExt cx="4876683" cy="11186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76683" cy="1118617"/>
            </a:xfrm>
            <a:custGeom>
              <a:avLst/>
              <a:gdLst/>
              <a:ahLst/>
              <a:cxnLst/>
              <a:rect l="l" t="t" r="r" b="b"/>
              <a:pathLst>
                <a:path w="4876683" h="1118617">
                  <a:moveTo>
                    <a:pt x="12544" y="0"/>
                  </a:moveTo>
                  <a:lnTo>
                    <a:pt x="4864140" y="0"/>
                  </a:lnTo>
                  <a:cubicBezTo>
                    <a:pt x="4867466" y="0"/>
                    <a:pt x="4870657" y="1322"/>
                    <a:pt x="4873009" y="3674"/>
                  </a:cubicBezTo>
                  <a:cubicBezTo>
                    <a:pt x="4875361" y="6026"/>
                    <a:pt x="4876683" y="9217"/>
                    <a:pt x="4876683" y="12544"/>
                  </a:cubicBezTo>
                  <a:lnTo>
                    <a:pt x="4876683" y="1106074"/>
                  </a:lnTo>
                  <a:cubicBezTo>
                    <a:pt x="4876683" y="1109401"/>
                    <a:pt x="4875361" y="1112591"/>
                    <a:pt x="4873009" y="1114943"/>
                  </a:cubicBezTo>
                  <a:cubicBezTo>
                    <a:pt x="4870657" y="1117296"/>
                    <a:pt x="4867466" y="1118617"/>
                    <a:pt x="4864140" y="1118617"/>
                  </a:cubicBezTo>
                  <a:lnTo>
                    <a:pt x="12544" y="1118617"/>
                  </a:lnTo>
                  <a:cubicBezTo>
                    <a:pt x="9217" y="1118617"/>
                    <a:pt x="6026" y="1117296"/>
                    <a:pt x="3674" y="1114943"/>
                  </a:cubicBezTo>
                  <a:cubicBezTo>
                    <a:pt x="1322" y="1112591"/>
                    <a:pt x="0" y="1109401"/>
                    <a:pt x="0" y="1106074"/>
                  </a:cubicBezTo>
                  <a:lnTo>
                    <a:pt x="0" y="12544"/>
                  </a:lnTo>
                  <a:cubicBezTo>
                    <a:pt x="0" y="9217"/>
                    <a:pt x="1322" y="6026"/>
                    <a:pt x="3674" y="3674"/>
                  </a:cubicBezTo>
                  <a:cubicBezTo>
                    <a:pt x="6026" y="1322"/>
                    <a:pt x="9217" y="0"/>
                    <a:pt x="1254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4876683" cy="1118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86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11288360" y="6586057"/>
            <a:ext cx="4930805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11288360" y="7424940"/>
            <a:ext cx="4930805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663716" y="602403"/>
            <a:ext cx="2408856" cy="633830"/>
          </a:xfrm>
          <a:custGeom>
            <a:avLst/>
            <a:gdLst/>
            <a:ahLst/>
            <a:cxnLst/>
            <a:rect l="l" t="t" r="r" b="b"/>
            <a:pathLst>
              <a:path w="2408856" h="633830">
                <a:moveTo>
                  <a:pt x="0" y="0"/>
                </a:moveTo>
                <a:lnTo>
                  <a:pt x="2408856" y="0"/>
                </a:lnTo>
                <a:lnTo>
                  <a:pt x="2408856" y="633830"/>
                </a:lnTo>
                <a:lnTo>
                  <a:pt x="0" y="6338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863807" y="2607945"/>
            <a:ext cx="7864728" cy="253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0"/>
              </a:lnSpc>
            </a:pPr>
            <a:r>
              <a:rPr lang="en-US" sz="6000" b="1" i="1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Your AI Interviewing Partner</a:t>
            </a:r>
          </a:p>
          <a:p>
            <a:pPr algn="ctr">
              <a:lnSpc>
                <a:spcPts val="6660"/>
              </a:lnSpc>
            </a:pPr>
            <a:endParaRPr lang="en-US" sz="6000" b="1" i="1">
              <a:solidFill>
                <a:srgbClr val="FFFFFF"/>
              </a:solidFill>
              <a:latin typeface="Open Sauce Bold Italics"/>
              <a:ea typeface="Open Sauce Bold Italics"/>
              <a:cs typeface="Open Sauce Bold Italics"/>
              <a:sym typeface="Open Sauce Bold Itali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1842834"/>
            <a:ext cx="3457347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8C52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Contact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76815" y="5238292"/>
            <a:ext cx="378141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AD67D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Contact Info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76815" y="6004349"/>
            <a:ext cx="5143106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25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team@evalsy.com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76815" y="7682115"/>
            <a:ext cx="5143106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25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www.evalsy.com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76815" y="6834464"/>
            <a:ext cx="243269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2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+947 790 5939 4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655</Words>
  <Application>Microsoft Office PowerPoint</Application>
  <PresentationFormat>Custom</PresentationFormat>
  <Paragraphs>104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Open Sans Bold Italics</vt:lpstr>
      <vt:lpstr>Open Sauce Bold Italics</vt:lpstr>
      <vt:lpstr>Calibri</vt:lpstr>
      <vt:lpstr>Arial</vt:lpstr>
      <vt:lpstr>Open Sauce Bold</vt:lpstr>
      <vt:lpstr>Open Sauce</vt:lpstr>
      <vt:lpstr>Open Sans Bold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Evalsy: Transforming Hiring with AI</dc:title>
  <dc:description>Presentation - Evalsy: Transforming Hiring with AI</dc:description>
  <cp:lastModifiedBy>Askar Musthaffa</cp:lastModifiedBy>
  <cp:revision>2</cp:revision>
  <dcterms:created xsi:type="dcterms:W3CDTF">2006-08-16T00:00:00Z</dcterms:created>
  <dcterms:modified xsi:type="dcterms:W3CDTF">2025-10-07T16:25:40Z</dcterms:modified>
  <dc:identifier>DAGs6eTvtm0</dc:identifier>
</cp:coreProperties>
</file>